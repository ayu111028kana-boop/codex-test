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3716000" cy="7715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プロセスエコノミーの台本について。講師：あゆみん（YOLO7期生）。視聴者が自分事化し、続きを見たくなる発信を、実際のリールと改善の考え方までつなげて説明する。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目次は5章。プロセスエコノミーの考え方、ゴールと共感の入口、台本の組み立て方、リアルな過程の見せ方、複数投稿で物語をつなぐ・まとめ。最後に投稿後の数字を見て改善する方法も扱う。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プロセス型は、ただ挑戦の過程を見せるだけではない。初見の視聴者はまだ発信者本人に興味がない。まず「私も同じ」「分かる」と思える入口を作る。スタート地点からゴールまでの変化を見せることで、日々の投稿が一つの物語になる。共感→自分事化→続きが気になる→応援したくなる→ファンにな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があるから、その途中が物語になる。スタート地点とゴール地点を明確にする。「100日後に水着を着たい」だけでは、自分には関係ないと感じる人もいる。なぜそのゴールを目指すのか、背景や悩みまで見せる。ゴールや過程そのものに興味を持ってもらえるかも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過去は夫が「可愛い」と言ってくれるほど仲がよかった。現在は家庭を一緒に回す戦友のような関係。家族でアニメを見ていた時にセイウチに似ていると揶揄され、ショック・悔しさ・寂しさを感じた。「私の目標を見て」ではなく「あなたにもこんな悩みない？」という入口を作る。未来・ゴールのカードはこのページに置かず、9Pで説明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記は「今日は夜ごはんをゆで卵にした。1週間頑張る」という行動の報告で終わる。プロセスは、夜になると疲れて何もしたくない、でも痩せたいという悩みとゴールから始まる。自分だけ別のダイエットごはんを作るのは正直めんどくさい。そこで夜ごはんをゆで卵に変えたらどうなるか1週間検証する。悩み・ゴール・挑戦・続きがあるから「どうなる？」が生まれる。これは本人の投稿内容を台本構成として扱う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1本のリールの型は、①冒頭：悩み・興味を引く、②共感・現在地：「私も」と思ってもらう、③挑戦：何をするのか見せる、④過程・結果：リアルな変化を見せる、⑤次の展開：続きを見る理由を作る。</a:t>
            </a:r>
          </a:p>
          <a:p>
            <a:r>
              <a:t>あゆみんの実例「ゆで卵1週間検証」は挑戦宣言の投稿。</a:t>
            </a:r>
          </a:p>
          <a:p>
            <a:r>
              <a:t>①冒頭：「1週間、夜ご飯をゆで卵3個に置き換えたらどれだけ痩せる？」</a:t>
            </a:r>
          </a:p>
          <a:p>
            <a:r>
              <a:t>②共感・現在地：「家族5人分のごはんを作るだけでも白目。自分のためだけにダイエットメニューを作るなんて無理ゲー…」</a:t>
            </a:r>
          </a:p>
          <a:p>
            <a:r>
              <a:t>③挑戦：「子どもたち用にいつも大量に茹でてるゆで卵ならできそう！夜ご飯をゆで卵3個にして1週間検証」</a:t>
            </a:r>
          </a:p>
          <a:p>
            <a:r>
              <a:t>⑤次の展開：「どれくらい変化あるんか結果が気になる人はフォローして待っててな〜」</a:t>
            </a:r>
          </a:p>
          <a:p>
            <a:r>
              <a:t>この時点では④過程・結果はまだない。毎回①〜⑤を全部使う必要はない。挑戦宣言・途中経過・結果発表など、投稿の目的に合わせて必要な要素を使い分ける。</a:t>
            </a:r>
          </a:p>
          <a:p>
            <a:r>
              <a:t>台本を作る前に「この投稿の目的は？」「誰に届ける？」「一番伝えたいことは？」を考える。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HIITは短い運動と休憩を繰り返すトレーニング。ここでは効果を紹介するのではなく、予定外の出来事をどうコンテンツに変えたかを説明する。</a:t>
            </a:r>
          </a:p>
          <a:p>
            <a:r>
              <a:t>成功した姿だけでなく、迷い・失敗・感情・小さな変化・思うようにいかなかった日・途中経過もコンテンツになる。</a:t>
            </a:r>
          </a:p>
          <a:p>
            <a:r>
              <a:t>実例：HIITを1週間検証したところ−2.9kgという変化があった。しかし途中で風邪をひき、喉が痛くて食事量も減った。そのため「−2.9kgはHIITだけの結果ではない」と正直に伝えた。HIITの効果として数字を断定しない。</a:t>
            </a:r>
          </a:p>
          <a:p>
            <a:r>
              <a:t>予定通りの検証にはならなかったが、「このまま終わるのはもったいないし悔しい」という感情を「もう1週間再チャレンジする」という次の投稿へつなげた。</a:t>
            </a:r>
          </a:p>
          <a:p>
            <a:r>
              <a:t>出来事を報告するだけなら日記。「そこから何を伝えられる？」「次にどうする？」まで考えるとコンテンツになる。</a:t>
            </a:r>
          </a:p>
          <a:p>
            <a:r>
              <a:t>完璧に見せすぎないことで「この先どうなる？」が生まれる。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アカウント全体のゴールは「痩せて夫とデートへ行く。また『可愛い』と言ってもらう」。実際の投稿を、なわとび検証→16時間断食結果→ワンピ再挑戦の順に紹介する。運動・食事・服で変化を確かめるという違うテーマでも、同じゴールへ向かっていれば一つの物語になる。ここで新たな減量結果や成果を創作しない。1本ごとのリール構成は7Pで説明し、このページではアカウント全体で投稿をつなぐ考え方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このページは今後初心者が分析するときに使う考え方・チェック基準。あゆみんの実分析を行った事例ではない。</a:t>
            </a:r>
          </a:p>
          <a:p>
            <a:r>
              <a:t>投稿する→数字を見る→原因を考える→次の投稿で改善する。</a:t>
            </a:r>
          </a:p>
          <a:p>
            <a:r>
              <a:t>再生数が伸びないなら、冒頭の悩みやテーマがターゲットに合っていたかを考える。</a:t>
            </a:r>
          </a:p>
          <a:p>
            <a:r>
              <a:t>再生されても途中で離脱されるなら、前置きの長さや続きを見たくなる展開を確認する。</a:t>
            </a:r>
          </a:p>
          <a:p>
            <a:r>
              <a:t>共感コメントが多くてもフォローが増えないなら、今後のゴールやフォローする理由が伝わっているかを考える。次の投稿では挑戦のゴールや今後の検証を明確にする、という仮説を立てる。</a:t>
            </a:r>
          </a:p>
          <a:p>
            <a:r>
              <a:t>経過報告の反応が弱ければ、視聴者にとっての発見・見どころを確認する。</a:t>
            </a:r>
          </a:p>
          <a:p>
            <a:r>
              <a:t>特定テーマだけ反応が良ければ、どんな悩み・切り口が響いたのか考える。</a:t>
            </a:r>
          </a:p>
          <a:p>
            <a:r>
              <a:t>数字が悪いことは投稿全部がダメという意味ではない。「なぜ？」「次は何を変える？」という仮説を立てる。仮説を原因と断定しない。1投稿だけで判断せず、投稿数がたまってから傾向を見る。具体的な投稿数の基準はここでは設定し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：①物語のゴールと共感の入口を決める。②ただの日記ではなく、この先どうなると思える挑戦にする。③日常の失敗や変化も、そこから何を伝えられるかに変換する。④一つのゴールに向かって複数投稿をつなげる。⑤投稿して終わりではなく、数字を見る→仮説を立てる→次で改善する。「私の挑戦を見て」ではなく「あなたにもこんな悩みない？」から始める。その先に共感→自分事化→続きが気になる→応援→ファン化が生まれ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notesSlide" Target="../notesSlides/notesSlide5.xml"/><Relationship Id="rId6" Type="http://schemas.openxmlformats.org/officeDocument/2006/relationships/image" Target="../media/image13.jpg"/><Relationship Id="rId7" Type="http://schemas.openxmlformats.org/officeDocument/2006/relationships/image" Target="../media/image14.jpg"/><Relationship Id="rId8" Type="http://schemas.openxmlformats.org/officeDocument/2006/relationships/image" Target="../media/image15.jpg"/><Relationship Id="rId9" Type="http://schemas.openxmlformats.org/officeDocument/2006/relationships/image" Target="../media/image2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16.jpg"/><Relationship Id="rId7" Type="http://schemas.openxmlformats.org/officeDocument/2006/relationships/image" Target="../media/image17.jpg"/><Relationship Id="rId8" Type="http://schemas.openxmlformats.org/officeDocument/2006/relationships/image" Target="../media/image1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notesSlide" Target="../notesSlides/notesSlide8.xml"/><Relationship Id="rId6" Type="http://schemas.openxmlformats.org/officeDocument/2006/relationships/image" Target="../media/image19.jpg"/><Relationship Id="rId7" Type="http://schemas.openxmlformats.org/officeDocument/2006/relationships/image" Target="../media/image20.jpg"/><Relationship Id="rId8" Type="http://schemas.openxmlformats.org/officeDocument/2006/relationships/image" Target="../media/image2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276975" y="1200150"/>
            <a:ext cx="1162050" cy="1162050"/>
          </a:xfrm>
          <a:prstGeom prst="ellipse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858000" y="1485900"/>
            <a:ext cx="0" cy="59055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657225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6858000" y="14668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5722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143750" y="1466850"/>
            <a:ext cx="0" cy="5334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57225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858000" y="2000250"/>
            <a:ext cx="285750" cy="76200"/>
          </a:xfrm>
          <a:prstGeom prst="line">
            <a:avLst/>
          </a:prstGeom>
          <a:ln w="28575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1050" y="3667125"/>
            <a:ext cx="121539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6307"/>
              </a:lnSpc>
              <a:spcBef>
                <a:spcPts val="0"/>
              </a:spcBef>
              <a:spcAft>
                <a:spcPts val="0"/>
              </a:spcAft>
            </a:pPr>
            <a:r>
              <a:rPr b="1" sz="43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応援される発信の作り方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3500" y="4905375"/>
            <a:ext cx="11049000" cy="52387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講師：あゆみん（YOLO7期生）</a:t>
            </a:r>
          </a:p>
        </p:txBody>
      </p:sp>
      <p:sp>
        <p:nvSpPr>
          <p:cNvPr id="15" name="TextBox 11"/>
          <p:cNvSpPr txBox="1"/>
          <p:nvPr/>
        </p:nvSpPr>
        <p:spPr>
          <a:xfrm>
            <a:off x="781050" y="2781300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ダイエットジャンル</a:t>
            </a:r>
          </a:p>
        </p:txBody>
      </p:sp>
      <p:sp>
        <p:nvSpPr>
          <p:cNvPr id="16" name="Oval 15"/>
          <p:cNvSpPr/>
          <p:nvPr/>
        </p:nvSpPr>
        <p:spPr>
          <a:xfrm>
            <a:off x="381945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5"/>
          <p:cNvSpPr/>
          <p:nvPr/>
        </p:nvSpPr>
        <p:spPr>
          <a:xfrm>
            <a:off x="393339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5"/>
          <p:cNvSpPr/>
          <p:nvPr/>
        </p:nvSpPr>
        <p:spPr>
          <a:xfrm>
            <a:off x="404733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5"/>
          <p:cNvSpPr/>
          <p:nvPr/>
        </p:nvSpPr>
        <p:spPr>
          <a:xfrm>
            <a:off x="416128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5"/>
          <p:cNvSpPr/>
          <p:nvPr/>
        </p:nvSpPr>
        <p:spPr>
          <a:xfrm>
            <a:off x="427522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15"/>
          <p:cNvSpPr/>
          <p:nvPr/>
        </p:nvSpPr>
        <p:spPr>
          <a:xfrm>
            <a:off x="4389167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15"/>
          <p:cNvSpPr/>
          <p:nvPr/>
        </p:nvSpPr>
        <p:spPr>
          <a:xfrm>
            <a:off x="450311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15"/>
          <p:cNvSpPr/>
          <p:nvPr/>
        </p:nvSpPr>
        <p:spPr>
          <a:xfrm>
            <a:off x="461705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15"/>
          <p:cNvSpPr/>
          <p:nvPr/>
        </p:nvSpPr>
        <p:spPr>
          <a:xfrm>
            <a:off x="473099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15"/>
          <p:cNvSpPr/>
          <p:nvPr/>
        </p:nvSpPr>
        <p:spPr>
          <a:xfrm>
            <a:off x="484494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15"/>
          <p:cNvSpPr/>
          <p:nvPr/>
        </p:nvSpPr>
        <p:spPr>
          <a:xfrm>
            <a:off x="495888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15"/>
          <p:cNvSpPr/>
          <p:nvPr/>
        </p:nvSpPr>
        <p:spPr>
          <a:xfrm>
            <a:off x="507282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15"/>
          <p:cNvSpPr/>
          <p:nvPr/>
        </p:nvSpPr>
        <p:spPr>
          <a:xfrm>
            <a:off x="518677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15"/>
          <p:cNvSpPr/>
          <p:nvPr/>
        </p:nvSpPr>
        <p:spPr>
          <a:xfrm>
            <a:off x="5300714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15"/>
          <p:cNvSpPr/>
          <p:nvPr/>
        </p:nvSpPr>
        <p:spPr>
          <a:xfrm>
            <a:off x="541465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15"/>
          <p:cNvSpPr/>
          <p:nvPr/>
        </p:nvSpPr>
        <p:spPr>
          <a:xfrm>
            <a:off x="552860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15"/>
          <p:cNvSpPr/>
          <p:nvPr/>
        </p:nvSpPr>
        <p:spPr>
          <a:xfrm>
            <a:off x="564254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15"/>
          <p:cNvSpPr/>
          <p:nvPr/>
        </p:nvSpPr>
        <p:spPr>
          <a:xfrm>
            <a:off x="575648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15"/>
          <p:cNvSpPr/>
          <p:nvPr/>
        </p:nvSpPr>
        <p:spPr>
          <a:xfrm>
            <a:off x="587043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15"/>
          <p:cNvSpPr/>
          <p:nvPr/>
        </p:nvSpPr>
        <p:spPr>
          <a:xfrm>
            <a:off x="598437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15"/>
          <p:cNvSpPr/>
          <p:nvPr/>
        </p:nvSpPr>
        <p:spPr>
          <a:xfrm>
            <a:off x="609831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15"/>
          <p:cNvSpPr/>
          <p:nvPr/>
        </p:nvSpPr>
        <p:spPr>
          <a:xfrm>
            <a:off x="6212261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15"/>
          <p:cNvSpPr/>
          <p:nvPr/>
        </p:nvSpPr>
        <p:spPr>
          <a:xfrm>
            <a:off x="632620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15"/>
          <p:cNvSpPr/>
          <p:nvPr/>
        </p:nvSpPr>
        <p:spPr>
          <a:xfrm>
            <a:off x="644014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15"/>
          <p:cNvSpPr/>
          <p:nvPr/>
        </p:nvSpPr>
        <p:spPr>
          <a:xfrm>
            <a:off x="655409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15"/>
          <p:cNvSpPr/>
          <p:nvPr/>
        </p:nvSpPr>
        <p:spPr>
          <a:xfrm>
            <a:off x="666803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15"/>
          <p:cNvSpPr/>
          <p:nvPr/>
        </p:nvSpPr>
        <p:spPr>
          <a:xfrm>
            <a:off x="678197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15"/>
          <p:cNvSpPr/>
          <p:nvPr/>
        </p:nvSpPr>
        <p:spPr>
          <a:xfrm>
            <a:off x="689592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15"/>
          <p:cNvSpPr/>
          <p:nvPr/>
        </p:nvSpPr>
        <p:spPr>
          <a:xfrm>
            <a:off x="700986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15"/>
          <p:cNvSpPr/>
          <p:nvPr/>
        </p:nvSpPr>
        <p:spPr>
          <a:xfrm>
            <a:off x="7123808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15"/>
          <p:cNvSpPr/>
          <p:nvPr/>
        </p:nvSpPr>
        <p:spPr>
          <a:xfrm>
            <a:off x="723775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15"/>
          <p:cNvSpPr/>
          <p:nvPr/>
        </p:nvSpPr>
        <p:spPr>
          <a:xfrm>
            <a:off x="735169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15"/>
          <p:cNvSpPr/>
          <p:nvPr/>
        </p:nvSpPr>
        <p:spPr>
          <a:xfrm>
            <a:off x="746563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15"/>
          <p:cNvSpPr/>
          <p:nvPr/>
        </p:nvSpPr>
        <p:spPr>
          <a:xfrm>
            <a:off x="757958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15"/>
          <p:cNvSpPr/>
          <p:nvPr/>
        </p:nvSpPr>
        <p:spPr>
          <a:xfrm>
            <a:off x="769352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15"/>
          <p:cNvSpPr/>
          <p:nvPr/>
        </p:nvSpPr>
        <p:spPr>
          <a:xfrm>
            <a:off x="780746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15"/>
          <p:cNvSpPr/>
          <p:nvPr/>
        </p:nvSpPr>
        <p:spPr>
          <a:xfrm>
            <a:off x="792141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15"/>
          <p:cNvSpPr/>
          <p:nvPr/>
        </p:nvSpPr>
        <p:spPr>
          <a:xfrm>
            <a:off x="8035355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15"/>
          <p:cNvSpPr/>
          <p:nvPr/>
        </p:nvSpPr>
        <p:spPr>
          <a:xfrm>
            <a:off x="814929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15"/>
          <p:cNvSpPr/>
          <p:nvPr/>
        </p:nvSpPr>
        <p:spPr>
          <a:xfrm>
            <a:off x="826324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15"/>
          <p:cNvSpPr/>
          <p:nvPr/>
        </p:nvSpPr>
        <p:spPr>
          <a:xfrm>
            <a:off x="837718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15"/>
          <p:cNvSpPr/>
          <p:nvPr/>
        </p:nvSpPr>
        <p:spPr>
          <a:xfrm>
            <a:off x="849112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15"/>
          <p:cNvSpPr/>
          <p:nvPr/>
        </p:nvSpPr>
        <p:spPr>
          <a:xfrm>
            <a:off x="860507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15"/>
          <p:cNvSpPr/>
          <p:nvPr/>
        </p:nvSpPr>
        <p:spPr>
          <a:xfrm>
            <a:off x="871901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15"/>
          <p:cNvSpPr/>
          <p:nvPr/>
        </p:nvSpPr>
        <p:spPr>
          <a:xfrm>
            <a:off x="883295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15"/>
          <p:cNvSpPr/>
          <p:nvPr/>
        </p:nvSpPr>
        <p:spPr>
          <a:xfrm>
            <a:off x="8946902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15"/>
          <p:cNvSpPr/>
          <p:nvPr/>
        </p:nvSpPr>
        <p:spPr>
          <a:xfrm>
            <a:off x="906084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15"/>
          <p:cNvSpPr/>
          <p:nvPr/>
        </p:nvSpPr>
        <p:spPr>
          <a:xfrm>
            <a:off x="917478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15"/>
          <p:cNvSpPr/>
          <p:nvPr/>
        </p:nvSpPr>
        <p:spPr>
          <a:xfrm>
            <a:off x="928873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15"/>
          <p:cNvSpPr/>
          <p:nvPr/>
        </p:nvSpPr>
        <p:spPr>
          <a:xfrm>
            <a:off x="940267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15"/>
          <p:cNvSpPr/>
          <p:nvPr/>
        </p:nvSpPr>
        <p:spPr>
          <a:xfrm>
            <a:off x="951661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15"/>
          <p:cNvSpPr/>
          <p:nvPr/>
        </p:nvSpPr>
        <p:spPr>
          <a:xfrm>
            <a:off x="9630563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15"/>
          <p:cNvSpPr/>
          <p:nvPr/>
        </p:nvSpPr>
        <p:spPr>
          <a:xfrm>
            <a:off x="9744506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15"/>
          <p:cNvSpPr/>
          <p:nvPr/>
        </p:nvSpPr>
        <p:spPr>
          <a:xfrm>
            <a:off x="9858449" y="46386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28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23900"/>
            <a:ext cx="121539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750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目次</a:t>
            </a:r>
          </a:p>
        </p:txBody>
      </p:sp>
      <p:sp>
        <p:nvSpPr>
          <p:cNvPr id="6" name="Contents 1 0"/>
          <p:cNvSpPr/>
          <p:nvPr/>
        </p:nvSpPr>
        <p:spPr>
          <a:xfrm>
            <a:off x="3190875" y="23145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ontents 1 1"/>
          <p:cNvSpPr/>
          <p:nvPr/>
        </p:nvSpPr>
        <p:spPr>
          <a:xfrm>
            <a:off x="3190875" y="23145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ontents 1 2"/>
          <p:cNvSpPr txBox="1"/>
          <p:nvPr/>
        </p:nvSpPr>
        <p:spPr>
          <a:xfrm>
            <a:off x="3514725" y="23907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9" name="Contents 2 0"/>
          <p:cNvSpPr/>
          <p:nvPr/>
        </p:nvSpPr>
        <p:spPr>
          <a:xfrm>
            <a:off x="3190875" y="310515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ntents 2 1"/>
          <p:cNvSpPr/>
          <p:nvPr/>
        </p:nvSpPr>
        <p:spPr>
          <a:xfrm>
            <a:off x="3190875" y="310515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ntents 2 2"/>
          <p:cNvSpPr txBox="1"/>
          <p:nvPr/>
        </p:nvSpPr>
        <p:spPr>
          <a:xfrm>
            <a:off x="3514725" y="318135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共感されるゴールの決め方</a:t>
            </a:r>
          </a:p>
        </p:txBody>
      </p:sp>
      <p:sp>
        <p:nvSpPr>
          <p:cNvPr id="12" name="Contents 3 0"/>
          <p:cNvSpPr/>
          <p:nvPr/>
        </p:nvSpPr>
        <p:spPr>
          <a:xfrm>
            <a:off x="3190875" y="389572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ntents 3 1"/>
          <p:cNvSpPr/>
          <p:nvPr/>
        </p:nvSpPr>
        <p:spPr>
          <a:xfrm>
            <a:off x="3190875" y="389572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ntents 3 2"/>
          <p:cNvSpPr txBox="1"/>
          <p:nvPr/>
        </p:nvSpPr>
        <p:spPr>
          <a:xfrm>
            <a:off x="3514725" y="397192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応援したくなるストーリーの組み立て方</a:t>
            </a:r>
          </a:p>
        </p:txBody>
      </p:sp>
      <p:sp>
        <p:nvSpPr>
          <p:cNvPr id="15" name="Contents 4 0"/>
          <p:cNvSpPr/>
          <p:nvPr/>
        </p:nvSpPr>
        <p:spPr>
          <a:xfrm>
            <a:off x="3190875" y="4686300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ontents 4 1"/>
          <p:cNvSpPr/>
          <p:nvPr/>
        </p:nvSpPr>
        <p:spPr>
          <a:xfrm>
            <a:off x="3190875" y="4686300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ntents 4 2"/>
          <p:cNvSpPr txBox="1"/>
          <p:nvPr/>
        </p:nvSpPr>
        <p:spPr>
          <a:xfrm>
            <a:off x="3514725" y="4762500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リアルな過程の見せ方</a:t>
            </a:r>
          </a:p>
        </p:txBody>
      </p:sp>
      <p:sp>
        <p:nvSpPr>
          <p:cNvPr id="18" name="Contents 5 0"/>
          <p:cNvSpPr/>
          <p:nvPr/>
        </p:nvSpPr>
        <p:spPr>
          <a:xfrm>
            <a:off x="3190875" y="5476875"/>
            <a:ext cx="6419999" cy="6286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ntents 5 1"/>
          <p:cNvSpPr/>
          <p:nvPr/>
        </p:nvSpPr>
        <p:spPr>
          <a:xfrm>
            <a:off x="3190875" y="5476875"/>
            <a:ext cx="85725" cy="6286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ntents 5 2"/>
          <p:cNvSpPr txBox="1"/>
          <p:nvPr/>
        </p:nvSpPr>
        <p:spPr>
          <a:xfrm>
            <a:off x="3514725" y="5553075"/>
            <a:ext cx="672465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複数投稿で「続きが気になる」をつくる</a:t>
            </a:r>
          </a:p>
        </p:txBody>
      </p:sp>
      <p:sp>
        <p:nvSpPr>
          <p:cNvPr id="24" name="Oval 23"/>
          <p:cNvSpPr/>
          <p:nvPr/>
        </p:nvSpPr>
        <p:spPr>
          <a:xfrm>
            <a:off x="63817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60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103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7246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89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532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675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1818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296150" y="14382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プロセスエコノミーとは？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2009774"/>
            <a:ext cx="11049000" cy="60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4241"/>
              </a:lnSpc>
              <a:spcBef>
                <a:spcPts val="0"/>
              </a:spcBef>
              <a:spcAft>
                <a:spcPts val="0"/>
              </a:spcAft>
            </a:pPr>
            <a:r>
              <a:rPr b="1" sz="29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ただ挑戦の過程を見せることではない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291465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視聴者が「私も」と自分を重ねられる入口をつくり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33500" y="3457575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スタートからゴールまでの変化を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3500" y="4000500"/>
            <a:ext cx="11049000" cy="4762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「この先どうなる？」と一緒に見届けてもらう発信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6261" y="5105400"/>
            <a:ext cx="1600349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970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945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426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0459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自分事化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021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7502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122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続きが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気になる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0979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578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198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応援したく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1740" y="5114925"/>
            <a:ext cx="304800" cy="1057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16540" y="5105400"/>
            <a:ext cx="1965960" cy="10763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92740" y="5181600"/>
            <a:ext cx="1813560" cy="9239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ファンに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なる</a:t>
            </a:r>
          </a:p>
        </p:txBody>
      </p:sp>
      <p:sp>
        <p:nvSpPr>
          <p:cNvPr id="24" name="Oval 23"/>
          <p:cNvSpPr/>
          <p:nvPr/>
        </p:nvSpPr>
        <p:spPr>
          <a:xfrm>
            <a:off x="4000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1140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2275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341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546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5681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817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952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088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0223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135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2494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3629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4764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5900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7035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817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9306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0441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1577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2712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384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4983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6118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7254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9524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0660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1795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93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066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5201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6337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472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860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9743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0878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2014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3149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284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542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6555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7690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8826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9961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1097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2232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336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4503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5638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677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まず「物語のゴール」を決める</a:t>
            </a:r>
          </a:p>
        </p:txBody>
      </p:sp>
      <p:sp>
        <p:nvSpPr>
          <p:cNvPr id="17" name="Oval 16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33500" y="1962150"/>
            <a:ext cx="11049000" cy="5524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ゴールがあるからその途中が「物語」になる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333500" y="2952750"/>
            <a:ext cx="409575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905500" y="2952750"/>
            <a:ext cx="6477000" cy="3143250"/>
          </a:xfrm>
          <a:prstGeom prst="rect">
            <a:avLst/>
          </a:prstGeom>
          <a:solidFill>
            <a:srgbClr val="FFFCF5"/>
          </a:solidFill>
          <a:ln w="12700">
            <a:solidFill>
              <a:srgbClr val="EFA5C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524000" y="3105150"/>
            <a:ext cx="3714750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4B4B4B"/>
                </a:solidFill>
                <a:latin typeface="Zen Maru Gothic"/>
                <a:ea typeface="Zen Maru Gothic"/>
              </a:rPr>
              <a:t>×例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096000" y="3105150"/>
            <a:ext cx="6096000" cy="4381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</a:pPr>
            <a:r>
              <a:rPr sz="2400" b="1" lang="ja-JP">
                <a:solidFill>
                  <a:srgbClr val="DE5C84"/>
                </a:solidFill>
                <a:latin typeface="Zen Maru Gothic"/>
                <a:ea typeface="Zen Maru Gothic"/>
              </a:rPr>
              <a:t>○例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619250" y="3667125"/>
            <a:ext cx="3524250" cy="14288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191250" y="3667125"/>
            <a:ext cx="5905500" cy="14288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524000" y="3971925"/>
            <a:ext cx="3714750" cy="857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「結婚記念日までに痩せたい」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524000" y="5067300"/>
            <a:ext cx="3714750" cy="647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目標だけだと</a:t>
            </a:r>
          </a:p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他人事になりやすい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191250" y="3810000"/>
            <a:ext cx="5905500" cy="3524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スタート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96000" y="4200525"/>
            <a:ext cx="6096000" cy="3619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「太って夫からの愛情表現が減った」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91250" y="4572000"/>
            <a:ext cx="5905500" cy="266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↓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191250" y="4857750"/>
            <a:ext cx="5905500" cy="3333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DE5C84"/>
                </a:solidFill>
                <a:latin typeface="Zen Maru Gothic"/>
                <a:ea typeface="Zen Maru Gothic"/>
              </a:rPr>
              <a:t>ゴール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096000" y="5248275"/>
            <a:ext cx="6096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「結婚記念日までに痩せて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096000" y="5572125"/>
            <a:ext cx="6096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lang="ja-JP">
                <a:solidFill>
                  <a:srgbClr val="4B4B4B"/>
                </a:solidFill>
                <a:latin typeface="Zen Maru Gothic"/>
                <a:ea typeface="Zen Maru Gothic"/>
              </a:rPr>
              <a:t>夫にもう一度惚れられたい」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33500" y="6353175"/>
            <a:ext cx="409575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4B4B4B"/>
                </a:solidFill>
                <a:latin typeface="Zen Maru Gothic"/>
                <a:ea typeface="Zen Maru Gothic"/>
              </a:rPr>
              <a:t>×＝目標だけ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05500" y="6353175"/>
            <a:ext cx="6477000" cy="4572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ja-JP">
                <a:solidFill>
                  <a:srgbClr val="DE5C84"/>
                </a:solidFill>
                <a:latin typeface="Zen Maru Gothic"/>
                <a:ea typeface="Zen Maru Gothic"/>
              </a:rPr>
              <a:t>○＝背景＋目指す未来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17" name="NG background 1"/>
          <p:cNvSpPr/>
          <p:nvPr/>
        </p:nvSpPr>
        <p:spPr>
          <a:xfrm>
            <a:off x="1552575" y="3333750"/>
            <a:ext cx="447675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8" name="NG background 2"/>
          <p:cNvSpPr/>
          <p:nvPr/>
        </p:nvSpPr>
        <p:spPr>
          <a:xfrm>
            <a:off x="1552575" y="4238625"/>
            <a:ext cx="447675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9" name="NG background 3"/>
          <p:cNvSpPr/>
          <p:nvPr/>
        </p:nvSpPr>
        <p:spPr>
          <a:xfrm>
            <a:off x="1552575" y="5143500"/>
            <a:ext cx="4476750" cy="1028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0" name="NG background 4"/>
          <p:cNvSpPr/>
          <p:nvPr/>
        </p:nvSpPr>
        <p:spPr>
          <a:xfrm>
            <a:off x="1552575" y="6305550"/>
            <a:ext cx="447675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共感で「自分事化」してもらう</a:t>
            </a:r>
          </a:p>
        </p:txBody>
      </p:sp>
      <p:sp>
        <p:nvSpPr>
          <p:cNvPr id="24" name="Oval 23"/>
          <p:cNvSpPr/>
          <p:nvPr/>
        </p:nvSpPr>
        <p:spPr>
          <a:xfrm>
            <a:off x="3524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638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52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867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981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095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10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324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38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552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67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781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895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010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124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238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353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467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581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95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810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924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038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53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267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381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496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610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724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53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67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181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296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410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524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639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753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867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981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096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210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324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439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553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667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782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8896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010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124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2392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3535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4678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5821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6964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8107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99250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0393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1536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33500" y="1828800"/>
            <a:ext cx="11049000" cy="381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DE5C84"/>
                </a:solidFill>
                <a:latin typeface="Zen Maru Gothic"/>
                <a:ea typeface="Zen Maru Gothic"/>
              </a:rPr>
              <a:t>あゆみんの実例で考える物語の入り方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943225" y="2286000"/>
            <a:ext cx="2114550" cy="533400"/>
          </a:xfrm>
          <a:prstGeom prst="rect">
            <a:avLst/>
          </a:prstGeom>
          <a:solidFill>
            <a:srgbClr val="4B4B4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943225" y="228600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NG例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658225" y="2286000"/>
            <a:ext cx="2114550" cy="533400"/>
          </a:xfrm>
          <a:prstGeom prst="rect">
            <a:avLst/>
          </a:prstGeom>
          <a:solidFill>
            <a:srgbClr val="DE5C8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658225" y="2286000"/>
            <a:ext cx="2114550" cy="533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60"/>
              </a:lnSpc>
              <a:spcBef>
                <a:spcPts val="0"/>
              </a:spcBef>
              <a:spcAft>
                <a:spcPts val="0"/>
              </a:spcAft>
            </a:pPr>
            <a:r>
              <a:rPr sz="2550" b="1">
                <a:solidFill>
                  <a:srgbClr val="FFFFFF"/>
                </a:solidFill>
                <a:latin typeface="Zen Maru Gothic"/>
                <a:ea typeface="Zen Maru Gothic"/>
              </a:rPr>
              <a:t>OK例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848475" y="2476500"/>
            <a:ext cx="19050" cy="45529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333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4B4B4B"/>
                </a:solidFill>
                <a:latin typeface="Zen Maru Gothic"/>
                <a:ea typeface="Zen Maru Gothic"/>
              </a:rPr>
              <a:t>浅い情報のままだと伝わりにくい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048500" y="2914650"/>
            <a:ext cx="5334000" cy="3238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950" b="1">
                <a:solidFill>
                  <a:srgbClr val="DE5C84"/>
                </a:solidFill>
                <a:latin typeface="Zen Maru Gothic"/>
                <a:ea typeface="Zen Maru Gothic"/>
              </a:rPr>
              <a:t>「あなたにもこんな悩みない？」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743075" y="33337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743075" y="35909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048500" y="3333750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153400" y="33528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過去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153400" y="36099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一目惚れされて毎日のように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「可愛い」と言ってもらえていた</a:t>
            </a:r>
          </a:p>
        </p:txBody>
      </p:sp>
      <p:pic>
        <p:nvPicPr>
          <p:cNvPr id="900" name="Picture 23" descr="IMG_2197(2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9921" y="3352800"/>
            <a:ext cx="424909" cy="742950"/>
          </a:xfrm>
          <a:prstGeom prst="rect">
            <a:avLst/>
          </a:prstGeom>
        </p:spPr>
      </p:pic>
      <p:sp>
        <p:nvSpPr>
          <p:cNvPr id="901" name="TextBox 900"/>
          <p:cNvSpPr txBox="1"/>
          <p:nvPr/>
        </p:nvSpPr>
        <p:spPr>
          <a:xfrm>
            <a:off x="1743075" y="4238625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2" name="TextBox 901"/>
          <p:cNvSpPr txBox="1"/>
          <p:nvPr/>
        </p:nvSpPr>
        <p:spPr>
          <a:xfrm>
            <a:off x="1743075" y="4495800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体型が気になる</a:t>
            </a:r>
          </a:p>
        </p:txBody>
      </p:sp>
      <p:sp>
        <p:nvSpPr>
          <p:cNvPr id="903" name="Rectangle 902"/>
          <p:cNvSpPr/>
          <p:nvPr/>
        </p:nvSpPr>
        <p:spPr>
          <a:xfrm>
            <a:off x="7048500" y="4238625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4" name="TextBox 903"/>
          <p:cNvSpPr txBox="1"/>
          <p:nvPr/>
        </p:nvSpPr>
        <p:spPr>
          <a:xfrm>
            <a:off x="8153400" y="4257675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現在</a:t>
            </a:r>
          </a:p>
        </p:txBody>
      </p:sp>
      <p:sp>
        <p:nvSpPr>
          <p:cNvPr id="905" name="TextBox 904"/>
          <p:cNvSpPr txBox="1"/>
          <p:nvPr/>
        </p:nvSpPr>
        <p:spPr>
          <a:xfrm>
            <a:off x="8153400" y="4514850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産後で体型が変わって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旦那の愛情表現が減った</a:t>
            </a:r>
          </a:p>
        </p:txBody>
      </p:sp>
      <p:pic>
        <p:nvPicPr>
          <p:cNvPr id="901" name="Picture 24" descr="IMG_2199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9372" y="4257675"/>
            <a:ext cx="426007" cy="742950"/>
          </a:xfrm>
          <a:prstGeom prst="rect">
            <a:avLst/>
          </a:prstGeom>
        </p:spPr>
      </p:pic>
      <p:sp>
        <p:nvSpPr>
          <p:cNvPr id="906" name="TextBox 905"/>
          <p:cNvSpPr txBox="1"/>
          <p:nvPr/>
        </p:nvSpPr>
        <p:spPr>
          <a:xfrm>
            <a:off x="1743075" y="514350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07" name="TextBox 906"/>
          <p:cNvSpPr txBox="1"/>
          <p:nvPr/>
        </p:nvSpPr>
        <p:spPr>
          <a:xfrm>
            <a:off x="1743075" y="5400675"/>
            <a:ext cx="3667125" cy="771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旦那からセイウチに似てると</a:t>
            </a:r>
          </a:p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言われた</a:t>
            </a:r>
          </a:p>
        </p:txBody>
      </p:sp>
      <p:sp>
        <p:nvSpPr>
          <p:cNvPr id="908" name="Rectangle 907"/>
          <p:cNvSpPr/>
          <p:nvPr/>
        </p:nvSpPr>
        <p:spPr>
          <a:xfrm>
            <a:off x="7048500" y="5143500"/>
            <a:ext cx="5334000" cy="10287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9" name="TextBox 908"/>
          <p:cNvSpPr txBox="1"/>
          <p:nvPr/>
        </p:nvSpPr>
        <p:spPr>
          <a:xfrm>
            <a:off x="8153400" y="516255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出来事</a:t>
            </a:r>
          </a:p>
        </p:txBody>
      </p:sp>
      <p:sp>
        <p:nvSpPr>
          <p:cNvPr id="910" name="TextBox 909"/>
          <p:cNvSpPr txBox="1"/>
          <p:nvPr/>
        </p:nvSpPr>
        <p:spPr>
          <a:xfrm>
            <a:off x="8153400" y="5419725"/>
            <a:ext cx="4114800" cy="7524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家族でアニメを見ていた時に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画面のセイウチに似てると言われて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ショックだった</a:t>
            </a:r>
          </a:p>
        </p:txBody>
      </p:sp>
      <p:pic>
        <p:nvPicPr>
          <p:cNvPr id="902" name="Picture 25" descr="IMG_2201(2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8379" y="5286375"/>
            <a:ext cx="427992" cy="742950"/>
          </a:xfrm>
          <a:prstGeom prst="rect">
            <a:avLst/>
          </a:prstGeom>
        </p:spPr>
      </p:pic>
      <p:sp>
        <p:nvSpPr>
          <p:cNvPr id="911" name="TextBox 910"/>
          <p:cNvSpPr txBox="1"/>
          <p:nvPr/>
        </p:nvSpPr>
        <p:spPr>
          <a:xfrm>
            <a:off x="1743075" y="6305550"/>
            <a:ext cx="34290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2" name="TextBox 911"/>
          <p:cNvSpPr txBox="1"/>
          <p:nvPr/>
        </p:nvSpPr>
        <p:spPr>
          <a:xfrm>
            <a:off x="1743075" y="6562725"/>
            <a:ext cx="3667125" cy="5238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痩せたい</a:t>
            </a:r>
          </a:p>
        </p:txBody>
      </p:sp>
      <p:sp>
        <p:nvSpPr>
          <p:cNvPr id="913" name="Rectangle 912"/>
          <p:cNvSpPr/>
          <p:nvPr/>
        </p:nvSpPr>
        <p:spPr>
          <a:xfrm>
            <a:off x="7048500" y="6305550"/>
            <a:ext cx="5334000" cy="7810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4" name="TextBox 913"/>
          <p:cNvSpPr txBox="1"/>
          <p:nvPr/>
        </p:nvSpPr>
        <p:spPr>
          <a:xfrm>
            <a:off x="8153400" y="6324600"/>
            <a:ext cx="4114800" cy="2571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DE5C84"/>
                </a:solidFill>
                <a:latin typeface="Zen Maru Gothic"/>
                <a:ea typeface="Zen Maru Gothic"/>
              </a:rPr>
              <a:t>未来</a:t>
            </a:r>
          </a:p>
        </p:txBody>
      </p:sp>
      <p:sp>
        <p:nvSpPr>
          <p:cNvPr id="915" name="TextBox 914"/>
          <p:cNvSpPr txBox="1"/>
          <p:nvPr/>
        </p:nvSpPr>
        <p:spPr>
          <a:xfrm>
            <a:off x="8153400" y="6581775"/>
            <a:ext cx="4114800" cy="5048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痩せてもう一度</a:t>
            </a:r>
          </a:p>
          <a:p>
            <a:pPr algn="l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4B4B4B"/>
                </a:solidFill>
                <a:latin typeface="Zen Maru Gothic"/>
                <a:ea typeface="Zen Maru Gothic"/>
              </a:rPr>
              <a:t>旦那の愛を取り戻したい</a:t>
            </a:r>
          </a:p>
        </p:txBody>
      </p:sp>
      <p:pic>
        <p:nvPicPr>
          <p:cNvPr id="916" name="Picture 915" descr="1-写真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57036" y="6324600"/>
            <a:ext cx="430679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「ただの日記」と「プロセス」の違い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5926" y="2133600"/>
            <a:ext cx="222899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5926" y="2133600"/>
            <a:ext cx="222899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ただの日記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8500" y="2409825"/>
            <a:ext cx="5334000" cy="3400425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724751" y="2133600"/>
            <a:ext cx="1981349" cy="447675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24751" y="2133600"/>
            <a:ext cx="1981349" cy="4476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プロセス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150" y="3114675"/>
            <a:ext cx="4838700" cy="9334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「今日は夜ごはんをゆで卵にした。</a:t>
            </a:r>
          </a:p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1週間頑張る！」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1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行動の報告だけでは続きを見る理由が弱い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6150" y="2838450"/>
            <a:ext cx="4838700" cy="20478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夜は疲れてなにもしたくない でも痩せたい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自分だけ別のダイエットごはんを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作るのは正直めんどくさい。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そこで夜ごはんをゆで卵に変えて</a:t>
            </a:r>
          </a:p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どうなるか1週間検証！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96150" y="5143500"/>
            <a:ext cx="48387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33500" y="6000750"/>
            <a:ext cx="11049000" cy="7715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悩み・ゴール・挑戦・続きがあるから「どうなる？」が生まれる</a:t>
            </a:r>
          </a:p>
        </p:txBody>
      </p:sp>
      <p:sp>
        <p:nvSpPr>
          <p:cNvPr id="17" name="Oval 1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1本のリールはこの流れで考える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13335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06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① 冒頭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06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悩み・興味を引く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004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② 共感・現在地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「私も」の入口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16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674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45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③ 挑戦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245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挑戦内容を示す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860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435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9150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④ 過程・結果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リアルな変化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15550" y="2133600"/>
            <a:ext cx="285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01300" y="1952624"/>
            <a:ext cx="1981199" cy="838200"/>
          </a:xfrm>
          <a:prstGeom prst="round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58450" y="2038349"/>
            <a:ext cx="1866899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18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⑤ 次の展開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58450" y="2409825"/>
            <a:ext cx="1866899" cy="2762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9276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019276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冒頭</a:t>
            </a:r>
          </a:p>
        </p:txBody>
      </p:sp>
      <p:pic>
        <p:nvPicPr>
          <p:cNvPr id="27" name="Picture 37" descr="IMG_2209(3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145" y="3600450"/>
            <a:ext cx="1418459" cy="2457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10125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14901" y="3133725"/>
            <a:ext cx="14860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14901" y="3133725"/>
            <a:ext cx="14860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共感</a:t>
            </a:r>
          </a:p>
        </p:txBody>
      </p:sp>
      <p:pic>
        <p:nvPicPr>
          <p:cNvPr id="31" name="Picture 38" descr="IMG_2530(3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0864" y="3600450"/>
            <a:ext cx="1414273" cy="24574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905750" y="4591050"/>
            <a:ext cx="1000125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62876" y="3133725"/>
            <a:ext cx="1981349" cy="36195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2876" y="3133725"/>
            <a:ext cx="1981349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次の展開</a:t>
            </a:r>
          </a:p>
        </p:txBody>
      </p:sp>
      <p:pic>
        <p:nvPicPr>
          <p:cNvPr id="35" name="Picture 39" descr="IMG_2534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4045" y="3600450"/>
            <a:ext cx="1419159" cy="245745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333500" y="6200775"/>
            <a:ext cx="11049000" cy="3714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挑戦宣言なので過程・結果は次の投稿へ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629400"/>
            <a:ext cx="11049000" cy="247649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投稿の目的に合わせて必要な要素を使い分ける</a:t>
            </a:r>
          </a:p>
        </p:txBody>
      </p:sp>
      <p:sp>
        <p:nvSpPr>
          <p:cNvPr id="38" name="Oval 37"/>
          <p:cNvSpPr/>
          <p:nvPr/>
        </p:nvSpPr>
        <p:spPr>
          <a:xfrm>
            <a:off x="342684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405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54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7680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38817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39955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1092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2230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33673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504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5642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6779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7916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054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019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1328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2466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36037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47410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5878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015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8153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9290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0427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1565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702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3840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977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6114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7252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69526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0664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1801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2938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4076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5213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6351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77488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8625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9763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0900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20379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31753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4312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5450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658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87724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88862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89999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1136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2274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934116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4548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5686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6823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7961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9098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023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1373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025105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「リアルな過程」を投稿ネタに変える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1866899"/>
            <a:ext cx="1104900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予定通りいかなかった出来事も投稿ネタに変えられる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3476" y="2876550"/>
            <a:ext cx="14860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3476" y="2876550"/>
            <a:ext cx="14860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挑戦</a:t>
            </a:r>
          </a:p>
        </p:txBody>
      </p:sp>
      <p:sp>
        <p:nvSpPr>
          <p:cNvPr id="9" name="Rectangle 8"/>
          <p:cNvSpPr/>
          <p:nvPr/>
        </p:nvSpPr>
        <p:spPr>
          <a:xfrm>
            <a:off x="133350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25" descr="IMG_2545(1)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5900" y="3527987"/>
            <a:ext cx="1162050" cy="200230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80035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HIITを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1週間検証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9650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95776" y="2876550"/>
            <a:ext cx="272429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95776" y="2876550"/>
            <a:ext cx="272429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予定外の出来事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14925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26" descr="IMG_2538(2)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67325" y="3525007"/>
            <a:ext cx="1162050" cy="200826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1775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風邪で食事量減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−2.9kgは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HIITだけの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結果ではないと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正直に伝えた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1075" y="4171950"/>
            <a:ext cx="295275" cy="5143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8676" y="2876550"/>
            <a:ext cx="1981349" cy="381000"/>
          </a:xfrm>
          <a:prstGeom prst="roundRect">
            <a:avLst>
              <a:gd name="adj" fmla="val 50000"/>
            </a:avLst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8676" y="2876550"/>
            <a:ext cx="1981349" cy="381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FFFFFF"/>
                </a:solidFill>
                <a:latin typeface="Zen Maru Gothic"/>
                <a:ea typeface="Zen Maru Gothic"/>
                <a:cs typeface="Zen Maru Gothic"/>
              </a:rPr>
              <a:t>次の挑戦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6350" y="3381375"/>
            <a:ext cx="3486150" cy="2295525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7" descr="IMG_2543(3)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48750" y="3525007"/>
            <a:ext cx="1162050" cy="20082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63200" y="3476625"/>
            <a:ext cx="1905000" cy="21050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もう1週間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延長して検証</a:t>
            </a:r>
          </a:p>
          <a:p>
            <a:pPr algn="ctr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b="1" sz="18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結果を再報告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3500" y="6010275"/>
            <a:ext cx="11049000" cy="4095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報告だけ＝日記 ／ 伝えられること・次にすることを考える＝コンテンツ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33500" y="6486525"/>
            <a:ext cx="110490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完璧に見せすぎないから「この先どうなる？」が生まれる</a:t>
            </a:r>
          </a:p>
        </p:txBody>
      </p:sp>
      <p:sp>
        <p:nvSpPr>
          <p:cNvPr id="26" name="TextBox 5"/>
          <p:cNvSpPr txBox="1"/>
          <p:nvPr/>
        </p:nvSpPr>
        <p:spPr>
          <a:xfrm>
            <a:off x="1333500" y="5715000"/>
            <a:ext cx="11049000" cy="2857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b="1" sz="15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※HIIT＝短時間で強度の高い運動と休憩を繰り返すトレーニング</a:t>
            </a:r>
          </a:p>
        </p:txBody>
      </p:sp>
      <p:sp>
        <p:nvSpPr>
          <p:cNvPr id="27" name="Oval 26"/>
          <p:cNvSpPr/>
          <p:nvPr/>
        </p:nvSpPr>
        <p:spPr>
          <a:xfrm>
            <a:off x="28098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2499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0401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1552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703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854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35005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6156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308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8459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396103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07615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1912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3063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215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3662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517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668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881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9970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1122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52273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3424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4575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5726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6877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8029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91801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0331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14825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2633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3784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93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0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723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954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6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184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2994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4145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52964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6447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75988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8749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9901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81052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82203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83354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4505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5656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6808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795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9110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90261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914127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92563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93715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4866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60174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71686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8319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99470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00622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01773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02924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04075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105226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06377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075290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08680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1つのゴールを複数の投稿で見せる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95351" y="1866900"/>
            <a:ext cx="9525149" cy="1219200"/>
          </a:xfrm>
          <a:prstGeom prst="roundRect">
            <a:avLst>
              <a:gd name="adj" fmla="val 50000"/>
            </a:avLst>
          </a:prstGeom>
          <a:solidFill>
            <a:srgbClr val="FFF0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05000" y="1971675"/>
            <a:ext cx="9906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697"/>
              </a:lnSpc>
              <a:spcBef>
                <a:spcPts val="0"/>
              </a:spcBef>
              <a:spcAft>
                <a:spcPts val="0"/>
              </a:spcAft>
            </a:pPr>
            <a:r>
              <a:rPr b="1" sz="25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アカウント全体のゴール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2505075"/>
            <a:ext cx="99060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痩せて夫とデートへ行く。また『可愛い』と言ってもらう。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3181350"/>
            <a:ext cx="1143000" cy="3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0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なわとび検証</a:t>
            </a:r>
          </a:p>
        </p:txBody>
      </p:sp>
      <p:pic>
        <p:nvPicPr>
          <p:cNvPr id="11" name="Picture 10" descr="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50482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16時間断食</a:t>
            </a:r>
          </a:p>
        </p:txBody>
      </p:sp>
      <p:pic>
        <p:nvPicPr>
          <p:cNvPr id="14" name="Picture 13" descr="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4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5" name="TextBox 14"/>
          <p:cNvSpPr txBox="1"/>
          <p:nvPr/>
        </p:nvSpPr>
        <p:spPr>
          <a:xfrm>
            <a:off x="8286750" y="4819650"/>
            <a:ext cx="38100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0" y="3533775"/>
            <a:ext cx="2857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610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ワンピ再挑戦</a:t>
            </a:r>
          </a:p>
        </p:txBody>
      </p:sp>
      <p:pic>
        <p:nvPicPr>
          <p:cNvPr id="17" name="Picture 16" descr="2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6957" y="3962399"/>
            <a:ext cx="1259085" cy="22383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1333500" y="6515100"/>
            <a:ext cx="11049000" cy="342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違うテーマの投稿でも同じゴールにつながっていれば1つの物語になる</a:t>
            </a:r>
          </a:p>
        </p:txBody>
      </p:sp>
      <p:sp>
        <p:nvSpPr>
          <p:cNvPr id="19" name="Oval 18"/>
          <p:cNvSpPr/>
          <p:nvPr/>
        </p:nvSpPr>
        <p:spPr>
          <a:xfrm>
            <a:off x="31887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302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416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5309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36449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5906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73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98720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01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2153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329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43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5755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67162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8569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899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1383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12790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524197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356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470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58418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569825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81232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9263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0404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15453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2686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3826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4967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61081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7248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530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6709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1811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2952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4092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52336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6374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77515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86557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97964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809371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2077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83218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843592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54999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866406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877813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89220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900627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912034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923441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934848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94625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9576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969069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980476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991883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00329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01469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02610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103751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04891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500" name="Rectangle 16"/>
          <p:cNvSpPr/>
          <p:nvPr/>
        </p:nvSpPr>
        <p:spPr>
          <a:xfrm>
            <a:off x="9001125" y="2952750"/>
            <a:ext cx="3619500" cy="27622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投稿して終わりにしない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1571625" y="1933575"/>
            <a:ext cx="205740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671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14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481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数字を見る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10400" y="1933575"/>
            <a:ext cx="2533650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原因を考える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44050" y="1943100"/>
            <a:ext cx="3048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045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58388" y="1933575"/>
            <a:ext cx="2314575" cy="704850"/>
          </a:xfrm>
          <a:prstGeom prst="rect">
            <a:avLst/>
          </a:prstGeom>
          <a:solidFill>
            <a:srgbClr val="FFFCF5"/>
          </a:solidFill>
          <a:ln w="19050">
            <a:solidFill>
              <a:srgbClr val="EFA5C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5050" y="2009774"/>
            <a:ext cx="2381250" cy="5524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次の投稿で</a:t>
            </a:r>
          </a:p>
          <a:p>
            <a:pPr algn="ctr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b="1" sz="20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改善する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33500" y="30384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04950" y="30765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再生が弱い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00500" y="30765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6750" y="30765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冒頭・テーマは刺さった？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33500" y="35909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4950" y="36290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離脱が多い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0500" y="36290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6750" y="36290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前置き長くない？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33500" y="41433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4950" y="41814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フォローが少ない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00500" y="41814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76750" y="41814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続きを見る理由ある？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33500" y="469582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04950" y="473392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経過報告が弱い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00500" y="473392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76750" y="473392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発見・見どころある？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33500" y="5248275"/>
            <a:ext cx="7286625" cy="43815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04950" y="5286375"/>
            <a:ext cx="24765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一部だけ伸びる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00500" y="5286375"/>
            <a:ext cx="41910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392"/>
              </a:lnSpc>
              <a:spcBef>
                <a:spcPts val="0"/>
              </a:spcBef>
              <a:spcAft>
                <a:spcPts val="0"/>
              </a:spcAft>
            </a:pPr>
            <a:r>
              <a:rPr b="1" sz="2175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76750" y="5286375"/>
            <a:ext cx="4210050" cy="3619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827"/>
              </a:lnSpc>
              <a:spcBef>
                <a:spcPts val="0"/>
              </a:spcBef>
              <a:spcAft>
                <a:spcPts val="0"/>
              </a:spcAft>
            </a:pPr>
            <a:r>
              <a:rPr b="1" sz="19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何が刺さった？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33500" y="6438900"/>
            <a:ext cx="11049000" cy="400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数字が悪い＝投稿全部がダメではない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3143250"/>
            <a:ext cx="3333750" cy="4286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479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なぜ？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3657600"/>
            <a:ext cx="33337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095750"/>
            <a:ext cx="3333750" cy="419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次は何を変える？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96375" y="4781550"/>
            <a:ext cx="3429000" cy="7810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1投稿だけで判断せず</a:t>
            </a:r>
          </a:p>
          <a:p>
            <a:pPr algn="ctr">
              <a:lnSpc>
                <a:spcPts val="2501"/>
              </a:lnSpc>
              <a:spcBef>
                <a:spcPts val="0"/>
              </a:spcBef>
              <a:spcAft>
                <a:spcPts val="0"/>
              </a:spcAft>
            </a:pPr>
            <a:r>
              <a:rPr b="1" sz="1725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投稿がたまってから考える</a:t>
            </a:r>
          </a:p>
        </p:txBody>
      </p:sp>
      <p:sp>
        <p:nvSpPr>
          <p:cNvPr id="42" name="Oval 41"/>
          <p:cNvSpPr/>
          <p:nvPr/>
        </p:nvSpPr>
        <p:spPr>
          <a:xfrm>
            <a:off x="4238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35168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6474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779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69085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80391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491697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503002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514308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25614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36920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8225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9531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0837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2143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93448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04754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16060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736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38672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49977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61283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72589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95200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6506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17812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729118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74042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51729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7630353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74341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85646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7969526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808258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8195641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830869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842175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8534814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864787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8760929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88739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898704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910010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21316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932621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439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29500"/>
            <a:ext cx="13716000" cy="28575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81050" y="733425"/>
            <a:ext cx="12153900" cy="685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5437"/>
              </a:lnSpc>
              <a:spcBef>
                <a:spcPts val="0"/>
              </a:spcBef>
              <a:spcAft>
                <a:spcPts val="0"/>
              </a:spcAft>
            </a:pPr>
            <a:r>
              <a:rPr b="1" sz="37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まとめ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95500" y="1866899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095499" y="1866899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1250" y="19431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物語のゴールと共感の入口を決める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95500" y="26670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95499" y="26670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81250" y="27432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日記ではなく「この先どうなる？」と思える挑戦にする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95500" y="34671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95499" y="34671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81250" y="35433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日常の失敗や変化を「そこから何を伝えられる？」に変換する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095500" y="42672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095499" y="42672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81250" y="43434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1つのゴールに向かって複数投稿をつなげる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95500" y="5067300"/>
            <a:ext cx="8858250" cy="609600"/>
          </a:xfrm>
          <a:prstGeom prst="rect">
            <a:avLst/>
          </a:prstGeom>
          <a:solidFill>
            <a:srgbClr val="FFFC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95499" y="5067300"/>
            <a:ext cx="76200" cy="609600"/>
          </a:xfrm>
          <a:prstGeom prst="rect">
            <a:avLst/>
          </a:prstGeom>
          <a:solidFill>
            <a:srgbClr val="EFA5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81250" y="5143500"/>
            <a:ext cx="8953500" cy="45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3262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投稿後は数字を見る → 仮説を立てる → 次で改善する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33500" y="6162675"/>
            <a:ext cx="11049000" cy="43815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2925"/>
              </a:lnSpc>
              <a:spcBef>
                <a:spcPts val="0"/>
              </a:spcBef>
              <a:spcAft>
                <a:spcPts val="0"/>
              </a:spcAft>
            </a:pPr>
            <a:r>
              <a:rPr b="1" sz="2250" lang="ja-JP">
                <a:solidFill>
                  <a:srgbClr val="DE5C84"/>
                </a:solidFill>
                <a:latin typeface="Zen Maru Gothic"/>
                <a:ea typeface="Zen Maru Gothic"/>
                <a:cs typeface="Zen Maru Gothic"/>
              </a:rPr>
              <a:t>「私の挑戦を見て」ではなく「あなたにもこんな悩みない？」から始める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3500" y="6619875"/>
            <a:ext cx="11049000" cy="266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980"/>
              </a:lnSpc>
              <a:spcBef>
                <a:spcPts val="0"/>
              </a:spcBef>
              <a:spcAft>
                <a:spcPts val="0"/>
              </a:spcAft>
            </a:pPr>
            <a:r>
              <a:rPr b="1" sz="1800" lang="ja-JP">
                <a:solidFill>
                  <a:srgbClr val="4B4B4B"/>
                </a:solidFill>
                <a:latin typeface="Zen Maru Gothic"/>
                <a:ea typeface="Zen Maru Gothic"/>
                <a:cs typeface="Zen Maru Gothic"/>
              </a:rPr>
              <a:t>共感 → 自分事化 → 続きが気になる → 応援 → ファン化</a:t>
            </a:r>
          </a:p>
        </p:txBody>
      </p:sp>
      <p:sp>
        <p:nvSpPr>
          <p:cNvPr id="36" name="Oval 35"/>
          <p:cNvSpPr/>
          <p:nvPr/>
        </p:nvSpPr>
        <p:spPr>
          <a:xfrm>
            <a:off x="61436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2595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3754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49128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071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72306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3895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54838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07072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186612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302500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18387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534275" y="1552575"/>
            <a:ext cx="38100" cy="38100"/>
          </a:xfrm>
          <a:prstGeom prst="ellipse">
            <a:avLst/>
          </a:prstGeom>
          <a:solidFill>
            <a:srgbClr val="EFA5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プロセスエコノミーの台本について</dc:title>
  <dc:subject>YOLO生向け講義教材</dc:subject>
  <dc:creator>あゆみん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