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3716000" cy="77152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プロセスエコノミーの台本について。講師：あゆみん（YOLO7期生）。視聴者が自分事化し、続きを見たくなる発信を、実際のリールと改善の考え方までつなげて説明する。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目次は5章。プロセスエコノミーの考え方、ゴールと共感の入口、台本の組み立て方、リアルな過程の見せ方、複数投稿で物語をつなぐ・まとめ。最後に投稿後の数字を見て改善する方法も扱う。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プロセス型は、ただ挑戦の過程を見せるだけではない。初見の視聴者はまだ発信者本人に興味がない。まず「私も同じ」「分かる」と思える入口を作る。スタート地点からゴールまでの変化を見せることで、日々の投稿が一つの物語になる。共感→自分事化→続きが気になる→応援したくなる→ファンにな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ゴールがあるから、その途中が物語になる。スタート地点とゴール地点を明確にする。「100日後に水着を着たい」だけでは、自分には関係ないと感じる人もいる。なぜそのゴールを目指すのか、背景や悩みまで見せる。ゴールや過程そのものに興味を持ってもらえるかも考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過去は夫が「可愛い」と言ってくれるほど仲がよかった。現在は家庭を一緒に回す戦友のような関係。家族でアニメを見ていた時にセイウチに似ていると揶揄され、ショック・悔しさ・寂しさを感じた。「私の目標を見て」ではなく「あなたにもこんな悩みない？」という入口を作る。未来・ゴールのカードはこのページに置かず、9Pで説明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日記は「今日は夜ごはんをゆで卵にした。1週間頑張る」という行動の報告で終わる。プロセスは、夜になると疲れて何もしたくない、でも痩せたいという悩みとゴールから始まる。自分だけ別のダイエットごはんを作るのは正直めんどくさい。そこで夜ごはんをゆで卵に変えたらどうなるか1週間検証する。悩み・ゴール・挑戦・続きがあるから「どうなる？」が生まれる。これは本人の投稿内容を台本構成として扱う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1本のリールの型は、①冒頭：悩み・興味を引く、②共感・現在地：「私も」と思ってもらう、③挑戦：何をするのか見せる、④過程・結果：リアルな変化を見せる、⑤次の展開：続きを見る理由を作る。</a:t>
            </a:r>
          </a:p>
          <a:p>
            <a:r>
              <a:t>あゆみんの実例「ゆで卵1週間検証」は挑戦宣言の投稿。</a:t>
            </a:r>
          </a:p>
          <a:p>
            <a:r>
              <a:t>①冒頭：「1週間、夜ご飯をゆで卵3個に置き換えたらどれだけ痩せる？」</a:t>
            </a:r>
          </a:p>
          <a:p>
            <a:r>
              <a:t>②共感・現在地：「家族5人分のごはんを作るだけでも白目。自分のためだけにダイエットメニューを作るなんて無理ゲー…」</a:t>
            </a:r>
          </a:p>
          <a:p>
            <a:r>
              <a:t>③挑戦：「子どもたち用にいつも大量に茹でてるゆで卵ならできそう！夜ご飯をゆで卵3個にして1週間検証」</a:t>
            </a:r>
          </a:p>
          <a:p>
            <a:r>
              <a:t>⑤次の展開：「どれくらい変化あるんか結果が気になる人はフォローして待っててな〜」</a:t>
            </a:r>
          </a:p>
          <a:p>
            <a:r>
              <a:t>この時点では④過程・結果はまだない。毎回①〜⑤を全部使う必要はない。挑戦宣言・途中経過・結果発表など、投稿の目的に合わせて必要な要素を使い分ける。</a:t>
            </a:r>
          </a:p>
          <a:p>
            <a:r>
              <a:t>台本を作る前に「この投稿の目的は？」「誰に届ける？」「一番伝えたいことは？」を考える。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HIITは短い運動と休憩を繰り返すトレーニング。ここでは効果を紹介するのではなく、予定外の出来事をどうコンテンツに変えたかを説明する。</a:t>
            </a:r>
          </a:p>
          <a:p>
            <a:r>
              <a:t>成功した姿だけでなく、迷い・失敗・感情・小さな変化・思うようにいかなかった日・途中経過もコンテンツになる。</a:t>
            </a:r>
          </a:p>
          <a:p>
            <a:r>
              <a:t>実例：HIITを1週間検証したところ−2.9kgという変化があった。しかし途中で風邪をひき、喉が痛くて食事量も減った。そのため「−2.9kgはHIITだけの結果ではない」と正直に伝えた。HIITの効果として数字を断定しない。</a:t>
            </a:r>
          </a:p>
          <a:p>
            <a:r>
              <a:t>予定通りの検証にはならなかったが、「このまま終わるのはもったいないし悔しい」という感情を「もう1週間再チャレンジする」という次の投稿へつなげた。</a:t>
            </a:r>
          </a:p>
          <a:p>
            <a:r>
              <a:t>出来事を報告するだけなら日記。「そこから何を伝えられる？」「次にどうする？」まで考えるとコンテンツになる。</a:t>
            </a:r>
          </a:p>
          <a:p>
            <a:r>
              <a:t>完璧に見せすぎないことで「この先どうなる？」が生まれる。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アカウント全体のゴールは「痩せて夫とデートへ行く。また『可愛い』と言ってもらう」。実際の投稿を、なわとび検証→16時間断食結果→ワンピ再挑戦の順に紹介する。運動・食事・服で変化を確かめるという違うテーマでも、同じゴールへ向かっていれば一つの物語になる。ここで新たな減量結果や成果を創作しない。1本ごとのリール構成は7Pで説明し、このページではアカウント全体で投稿をつなぐ考え方を伝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このページは今後初心者が分析するときに使う考え方・チェック基準。あゆみんの実分析を行った事例ではない。</a:t>
            </a:r>
          </a:p>
          <a:p>
            <a:r>
              <a:t>投稿する→数字を見る→原因を考える→次の投稿で改善する。</a:t>
            </a:r>
          </a:p>
          <a:p>
            <a:r>
              <a:t>再生数が伸びないなら、冒頭の悩みやテーマがターゲットに合っていたかを考える。</a:t>
            </a:r>
          </a:p>
          <a:p>
            <a:r>
              <a:t>再生されても途中で離脱されるなら、前置きの長さや続きを見たくなる展開を確認する。</a:t>
            </a:r>
          </a:p>
          <a:p>
            <a:r>
              <a:t>共感コメントが多くてもフォローが増えないなら、今後のゴールやフォローする理由が伝わっているかを考える。次の投稿では挑戦のゴールや今後の検証を明確にする、という仮説を立てる。</a:t>
            </a:r>
          </a:p>
          <a:p>
            <a:r>
              <a:t>経過報告の反応が弱ければ、視聴者にとっての発見・見どころを確認する。</a:t>
            </a:r>
          </a:p>
          <a:p>
            <a:r>
              <a:t>特定テーマだけ反応が良ければ、どんな悩み・切り口が響いたのか考える。</a:t>
            </a:r>
          </a:p>
          <a:p>
            <a:r>
              <a:t>数字が悪いことは投稿全部がダメという意味ではない。「なぜ？」「次は何を変える？」という仮説を立てる。仮説を原因と断定しない。1投稿だけで判断せず、投稿数がたまってから傾向を見る。具体的な投稿数の基準はここでは設定し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まとめ：①物語のゴールと共感の入口を決める。②ただの日記ではなく、この先どうなると思える挑戦にする。③日常の失敗や変化も、そこから何を伝えられるかに変換する。④一つのゴールに向かって複数投稿をつなげる。⑤投稿して終わりではなく、数字を見る→仮説を立てる→次で改善する。「私の挑戦を見て」ではなく「あなたにもこんな悩みない？」から始める。その先に共感→自分事化→続きが気になる→応援→ファン化が生まれ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notesSlide" Target="../notesSlides/notesSlide5.xml"/><Relationship Id="rId6" Type="http://schemas.openxmlformats.org/officeDocument/2006/relationships/image" Target="../media/image13.jpg"/><Relationship Id="rId7" Type="http://schemas.openxmlformats.org/officeDocument/2006/relationships/image" Target="../media/image14.jpg"/><Relationship Id="rId8" Type="http://schemas.openxmlformats.org/officeDocument/2006/relationships/image" Target="../media/image15.jpg"/><Relationship Id="rId9" Type="http://schemas.openxmlformats.org/officeDocument/2006/relationships/image" Target="../media/image2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notesSlide" Target="../notesSlides/notesSlide7.xml"/><Relationship Id="rId6" Type="http://schemas.openxmlformats.org/officeDocument/2006/relationships/image" Target="../media/image16.jpg"/><Relationship Id="rId7" Type="http://schemas.openxmlformats.org/officeDocument/2006/relationships/image" Target="../media/image17.jpg"/><Relationship Id="rId8" Type="http://schemas.openxmlformats.org/officeDocument/2006/relationships/image" Target="../media/image1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Relationship Id="rId4" Type="http://schemas.openxmlformats.org/officeDocument/2006/relationships/image" Target="../media/image9.jpg"/><Relationship Id="rId5" Type="http://schemas.openxmlformats.org/officeDocument/2006/relationships/notesSlide" Target="../notesSlides/notesSlide8.xml"/><Relationship Id="rId6" Type="http://schemas.openxmlformats.org/officeDocument/2006/relationships/image" Target="../media/image19.jpg"/><Relationship Id="rId7" Type="http://schemas.openxmlformats.org/officeDocument/2006/relationships/image" Target="../media/image20.jpg"/><Relationship Id="rId8" Type="http://schemas.openxmlformats.org/officeDocument/2006/relationships/image" Target="../media/image2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Relationship Id="rId4" Type="http://schemas.openxmlformats.org/officeDocument/2006/relationships/image" Target="../media/image12.jpg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276975" y="1200150"/>
            <a:ext cx="1162050" cy="1162050"/>
          </a:xfrm>
          <a:prstGeom prst="ellipse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858000" y="1485900"/>
            <a:ext cx="0" cy="59055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572250" y="14668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6858000" y="14668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72250" y="1466850"/>
            <a:ext cx="0" cy="5334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143750" y="1466850"/>
            <a:ext cx="0" cy="5334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572250" y="20002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858000" y="20002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81050" y="3667125"/>
            <a:ext cx="12153900" cy="781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6307"/>
              </a:lnSpc>
              <a:spcBef>
                <a:spcPts val="0"/>
              </a:spcBef>
              <a:spcAft>
                <a:spcPts val="0"/>
              </a:spcAft>
            </a:pPr>
            <a:r>
              <a:rPr b="1" sz="43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応援される発信の作り方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3500" y="4905375"/>
            <a:ext cx="11049000" cy="52387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講師：あゆみん（YOLO7期生）</a:t>
            </a:r>
          </a:p>
        </p:txBody>
      </p:sp>
      <p:sp>
        <p:nvSpPr>
          <p:cNvPr id="15" name="TextBox 11"/>
          <p:cNvSpPr txBox="1"/>
          <p:nvPr/>
        </p:nvSpPr>
        <p:spPr>
          <a:xfrm>
            <a:off x="781050" y="2781300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ダイエットジャンル</a:t>
            </a:r>
          </a:p>
        </p:txBody>
      </p:sp>
      <p:sp>
        <p:nvSpPr>
          <p:cNvPr id="16" name="Oval 15"/>
          <p:cNvSpPr/>
          <p:nvPr/>
        </p:nvSpPr>
        <p:spPr>
          <a:xfrm>
            <a:off x="381945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5"/>
          <p:cNvSpPr/>
          <p:nvPr/>
        </p:nvSpPr>
        <p:spPr>
          <a:xfrm>
            <a:off x="393339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5"/>
          <p:cNvSpPr/>
          <p:nvPr/>
        </p:nvSpPr>
        <p:spPr>
          <a:xfrm>
            <a:off x="4047337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5"/>
          <p:cNvSpPr/>
          <p:nvPr/>
        </p:nvSpPr>
        <p:spPr>
          <a:xfrm>
            <a:off x="416128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5"/>
          <p:cNvSpPr/>
          <p:nvPr/>
        </p:nvSpPr>
        <p:spPr>
          <a:xfrm>
            <a:off x="427522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15"/>
          <p:cNvSpPr/>
          <p:nvPr/>
        </p:nvSpPr>
        <p:spPr>
          <a:xfrm>
            <a:off x="4389167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15"/>
          <p:cNvSpPr/>
          <p:nvPr/>
        </p:nvSpPr>
        <p:spPr>
          <a:xfrm>
            <a:off x="450311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15"/>
          <p:cNvSpPr/>
          <p:nvPr/>
        </p:nvSpPr>
        <p:spPr>
          <a:xfrm>
            <a:off x="461705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15"/>
          <p:cNvSpPr/>
          <p:nvPr/>
        </p:nvSpPr>
        <p:spPr>
          <a:xfrm>
            <a:off x="473099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15"/>
          <p:cNvSpPr/>
          <p:nvPr/>
        </p:nvSpPr>
        <p:spPr>
          <a:xfrm>
            <a:off x="484494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15"/>
          <p:cNvSpPr/>
          <p:nvPr/>
        </p:nvSpPr>
        <p:spPr>
          <a:xfrm>
            <a:off x="495888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15"/>
          <p:cNvSpPr/>
          <p:nvPr/>
        </p:nvSpPr>
        <p:spPr>
          <a:xfrm>
            <a:off x="507282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15"/>
          <p:cNvSpPr/>
          <p:nvPr/>
        </p:nvSpPr>
        <p:spPr>
          <a:xfrm>
            <a:off x="518677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15"/>
          <p:cNvSpPr/>
          <p:nvPr/>
        </p:nvSpPr>
        <p:spPr>
          <a:xfrm>
            <a:off x="530071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15"/>
          <p:cNvSpPr/>
          <p:nvPr/>
        </p:nvSpPr>
        <p:spPr>
          <a:xfrm>
            <a:off x="541465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15"/>
          <p:cNvSpPr/>
          <p:nvPr/>
        </p:nvSpPr>
        <p:spPr>
          <a:xfrm>
            <a:off x="552860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15"/>
          <p:cNvSpPr/>
          <p:nvPr/>
        </p:nvSpPr>
        <p:spPr>
          <a:xfrm>
            <a:off x="564254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15"/>
          <p:cNvSpPr/>
          <p:nvPr/>
        </p:nvSpPr>
        <p:spPr>
          <a:xfrm>
            <a:off x="575648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15"/>
          <p:cNvSpPr/>
          <p:nvPr/>
        </p:nvSpPr>
        <p:spPr>
          <a:xfrm>
            <a:off x="587043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15"/>
          <p:cNvSpPr/>
          <p:nvPr/>
        </p:nvSpPr>
        <p:spPr>
          <a:xfrm>
            <a:off x="598437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15"/>
          <p:cNvSpPr/>
          <p:nvPr/>
        </p:nvSpPr>
        <p:spPr>
          <a:xfrm>
            <a:off x="609831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15"/>
          <p:cNvSpPr/>
          <p:nvPr/>
        </p:nvSpPr>
        <p:spPr>
          <a:xfrm>
            <a:off x="621226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15"/>
          <p:cNvSpPr/>
          <p:nvPr/>
        </p:nvSpPr>
        <p:spPr>
          <a:xfrm>
            <a:off x="632620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15"/>
          <p:cNvSpPr/>
          <p:nvPr/>
        </p:nvSpPr>
        <p:spPr>
          <a:xfrm>
            <a:off x="644014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15"/>
          <p:cNvSpPr/>
          <p:nvPr/>
        </p:nvSpPr>
        <p:spPr>
          <a:xfrm>
            <a:off x="655409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15"/>
          <p:cNvSpPr/>
          <p:nvPr/>
        </p:nvSpPr>
        <p:spPr>
          <a:xfrm>
            <a:off x="666803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15"/>
          <p:cNvSpPr/>
          <p:nvPr/>
        </p:nvSpPr>
        <p:spPr>
          <a:xfrm>
            <a:off x="678197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15"/>
          <p:cNvSpPr/>
          <p:nvPr/>
        </p:nvSpPr>
        <p:spPr>
          <a:xfrm>
            <a:off x="689592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15"/>
          <p:cNvSpPr/>
          <p:nvPr/>
        </p:nvSpPr>
        <p:spPr>
          <a:xfrm>
            <a:off x="700986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15"/>
          <p:cNvSpPr/>
          <p:nvPr/>
        </p:nvSpPr>
        <p:spPr>
          <a:xfrm>
            <a:off x="712380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15"/>
          <p:cNvSpPr/>
          <p:nvPr/>
        </p:nvSpPr>
        <p:spPr>
          <a:xfrm>
            <a:off x="723775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15"/>
          <p:cNvSpPr/>
          <p:nvPr/>
        </p:nvSpPr>
        <p:spPr>
          <a:xfrm>
            <a:off x="735169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15"/>
          <p:cNvSpPr/>
          <p:nvPr/>
        </p:nvSpPr>
        <p:spPr>
          <a:xfrm>
            <a:off x="746563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15"/>
          <p:cNvSpPr/>
          <p:nvPr/>
        </p:nvSpPr>
        <p:spPr>
          <a:xfrm>
            <a:off x="757958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15"/>
          <p:cNvSpPr/>
          <p:nvPr/>
        </p:nvSpPr>
        <p:spPr>
          <a:xfrm>
            <a:off x="769352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15"/>
          <p:cNvSpPr/>
          <p:nvPr/>
        </p:nvSpPr>
        <p:spPr>
          <a:xfrm>
            <a:off x="780746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15"/>
          <p:cNvSpPr/>
          <p:nvPr/>
        </p:nvSpPr>
        <p:spPr>
          <a:xfrm>
            <a:off x="792141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15"/>
          <p:cNvSpPr/>
          <p:nvPr/>
        </p:nvSpPr>
        <p:spPr>
          <a:xfrm>
            <a:off x="803535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15"/>
          <p:cNvSpPr/>
          <p:nvPr/>
        </p:nvSpPr>
        <p:spPr>
          <a:xfrm>
            <a:off x="814929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15"/>
          <p:cNvSpPr/>
          <p:nvPr/>
        </p:nvSpPr>
        <p:spPr>
          <a:xfrm>
            <a:off x="826324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15"/>
          <p:cNvSpPr/>
          <p:nvPr/>
        </p:nvSpPr>
        <p:spPr>
          <a:xfrm>
            <a:off x="837718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15"/>
          <p:cNvSpPr/>
          <p:nvPr/>
        </p:nvSpPr>
        <p:spPr>
          <a:xfrm>
            <a:off x="849112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15"/>
          <p:cNvSpPr/>
          <p:nvPr/>
        </p:nvSpPr>
        <p:spPr>
          <a:xfrm>
            <a:off x="860507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15"/>
          <p:cNvSpPr/>
          <p:nvPr/>
        </p:nvSpPr>
        <p:spPr>
          <a:xfrm>
            <a:off x="871901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15"/>
          <p:cNvSpPr/>
          <p:nvPr/>
        </p:nvSpPr>
        <p:spPr>
          <a:xfrm>
            <a:off x="883295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15"/>
          <p:cNvSpPr/>
          <p:nvPr/>
        </p:nvSpPr>
        <p:spPr>
          <a:xfrm>
            <a:off x="894690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15"/>
          <p:cNvSpPr/>
          <p:nvPr/>
        </p:nvSpPr>
        <p:spPr>
          <a:xfrm>
            <a:off x="906084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15"/>
          <p:cNvSpPr/>
          <p:nvPr/>
        </p:nvSpPr>
        <p:spPr>
          <a:xfrm>
            <a:off x="917478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15"/>
          <p:cNvSpPr/>
          <p:nvPr/>
        </p:nvSpPr>
        <p:spPr>
          <a:xfrm>
            <a:off x="9288733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15"/>
          <p:cNvSpPr/>
          <p:nvPr/>
        </p:nvSpPr>
        <p:spPr>
          <a:xfrm>
            <a:off x="940267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15"/>
          <p:cNvSpPr/>
          <p:nvPr/>
        </p:nvSpPr>
        <p:spPr>
          <a:xfrm>
            <a:off x="951661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15"/>
          <p:cNvSpPr/>
          <p:nvPr/>
        </p:nvSpPr>
        <p:spPr>
          <a:xfrm>
            <a:off x="9630563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15"/>
          <p:cNvSpPr/>
          <p:nvPr/>
        </p:nvSpPr>
        <p:spPr>
          <a:xfrm>
            <a:off x="974450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15"/>
          <p:cNvSpPr/>
          <p:nvPr/>
        </p:nvSpPr>
        <p:spPr>
          <a:xfrm>
            <a:off x="985844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28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23900"/>
            <a:ext cx="121539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750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目次</a:t>
            </a:r>
          </a:p>
        </p:txBody>
      </p:sp>
      <p:sp>
        <p:nvSpPr>
          <p:cNvPr id="6" name="Contents 1 0"/>
          <p:cNvSpPr/>
          <p:nvPr/>
        </p:nvSpPr>
        <p:spPr>
          <a:xfrm>
            <a:off x="3190875" y="2314575"/>
            <a:ext cx="6419999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ontents 1 1"/>
          <p:cNvSpPr/>
          <p:nvPr/>
        </p:nvSpPr>
        <p:spPr>
          <a:xfrm>
            <a:off x="3190875" y="2314575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ntents 1 2"/>
          <p:cNvSpPr txBox="1"/>
          <p:nvPr/>
        </p:nvSpPr>
        <p:spPr>
          <a:xfrm>
            <a:off x="3514725" y="2390775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プロセスエコノミーとは？</a:t>
            </a:r>
          </a:p>
        </p:txBody>
      </p:sp>
      <p:sp>
        <p:nvSpPr>
          <p:cNvPr id="9" name="Contents 2 0"/>
          <p:cNvSpPr/>
          <p:nvPr/>
        </p:nvSpPr>
        <p:spPr>
          <a:xfrm>
            <a:off x="3190875" y="3105150"/>
            <a:ext cx="6419999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ontents 2 1"/>
          <p:cNvSpPr/>
          <p:nvPr/>
        </p:nvSpPr>
        <p:spPr>
          <a:xfrm>
            <a:off x="3190875" y="3105150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ntents 2 2"/>
          <p:cNvSpPr txBox="1"/>
          <p:nvPr/>
        </p:nvSpPr>
        <p:spPr>
          <a:xfrm>
            <a:off x="3514725" y="3181350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共感されるゴールの決め方</a:t>
            </a:r>
          </a:p>
        </p:txBody>
      </p:sp>
      <p:sp>
        <p:nvSpPr>
          <p:cNvPr id="12" name="Contents 3 0"/>
          <p:cNvSpPr/>
          <p:nvPr/>
        </p:nvSpPr>
        <p:spPr>
          <a:xfrm>
            <a:off x="3190875" y="3895725"/>
            <a:ext cx="6419999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ntents 3 1"/>
          <p:cNvSpPr/>
          <p:nvPr/>
        </p:nvSpPr>
        <p:spPr>
          <a:xfrm>
            <a:off x="3190875" y="3895725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ntents 3 2"/>
          <p:cNvSpPr txBox="1"/>
          <p:nvPr/>
        </p:nvSpPr>
        <p:spPr>
          <a:xfrm>
            <a:off x="3514725" y="3971925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応援したくなるストーリーの組み立て方</a:t>
            </a:r>
          </a:p>
        </p:txBody>
      </p:sp>
      <p:sp>
        <p:nvSpPr>
          <p:cNvPr id="15" name="Contents 4 0"/>
          <p:cNvSpPr/>
          <p:nvPr/>
        </p:nvSpPr>
        <p:spPr>
          <a:xfrm>
            <a:off x="3190875" y="4686300"/>
            <a:ext cx="6419999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ntents 4 1"/>
          <p:cNvSpPr/>
          <p:nvPr/>
        </p:nvSpPr>
        <p:spPr>
          <a:xfrm>
            <a:off x="3190875" y="4686300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ntents 4 2"/>
          <p:cNvSpPr txBox="1"/>
          <p:nvPr/>
        </p:nvSpPr>
        <p:spPr>
          <a:xfrm>
            <a:off x="3514725" y="4762500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リアルな過程の見せ方</a:t>
            </a:r>
          </a:p>
        </p:txBody>
      </p:sp>
      <p:sp>
        <p:nvSpPr>
          <p:cNvPr id="18" name="Contents 5 0"/>
          <p:cNvSpPr/>
          <p:nvPr/>
        </p:nvSpPr>
        <p:spPr>
          <a:xfrm>
            <a:off x="3190875" y="5476875"/>
            <a:ext cx="6419999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ntents 5 1"/>
          <p:cNvSpPr/>
          <p:nvPr/>
        </p:nvSpPr>
        <p:spPr>
          <a:xfrm>
            <a:off x="3190875" y="5476875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ntents 5 2"/>
          <p:cNvSpPr txBox="1"/>
          <p:nvPr/>
        </p:nvSpPr>
        <p:spPr>
          <a:xfrm>
            <a:off x="3514725" y="5553075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複数投稿で「続きが気になる」をつくる</a:t>
            </a:r>
          </a:p>
        </p:txBody>
      </p:sp>
      <p:sp>
        <p:nvSpPr>
          <p:cNvPr id="24" name="Oval 23"/>
          <p:cNvSpPr/>
          <p:nvPr/>
        </p:nvSpPr>
        <p:spPr>
          <a:xfrm>
            <a:off x="63817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960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6103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7246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8389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9532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0675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1818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2961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プロセスエコノミーとは？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2009774"/>
            <a:ext cx="11049000" cy="609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4241"/>
              </a:lnSpc>
              <a:spcBef>
                <a:spcPts val="0"/>
              </a:spcBef>
              <a:spcAft>
                <a:spcPts val="0"/>
              </a:spcAft>
            </a:pPr>
            <a:r>
              <a:rPr b="1" sz="29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ただ挑戦の過程を見せることではない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3500" y="2914650"/>
            <a:ext cx="110490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視聴者が「私も」と自分を重ねられる入口をつくり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3500" y="3457575"/>
            <a:ext cx="110490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スタートからゴールまでの変化を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3500" y="4000500"/>
            <a:ext cx="110490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「この先どうなる？」と一緒に見届けてもらう発信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16261" y="5105400"/>
            <a:ext cx="1600349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0970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9459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0426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80459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自分事化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0219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7502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5122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続きが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気になる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40979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4578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198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応援したく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11740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1654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9274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ファンに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なる</a:t>
            </a:r>
          </a:p>
        </p:txBody>
      </p:sp>
      <p:sp>
        <p:nvSpPr>
          <p:cNvPr id="24" name="Oval 23"/>
          <p:cNvSpPr/>
          <p:nvPr/>
        </p:nvSpPr>
        <p:spPr>
          <a:xfrm>
            <a:off x="40005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1140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2275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34111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45465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5681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6817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79526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9088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02234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1358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24941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36295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47649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59003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70357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8171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93064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0441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15772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27126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3847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4983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6118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72541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95248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0660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1795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2931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40664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52017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6337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74725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8607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97433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08786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820140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31494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42848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5420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65555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7690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88263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9961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91097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22324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33678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4503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5638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6774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まず「物語のゴール」を決める</a:t>
            </a:r>
          </a:p>
        </p:txBody>
      </p:sp>
      <p:sp>
        <p:nvSpPr>
          <p:cNvPr id="17" name="Oval 16"/>
          <p:cNvSpPr/>
          <p:nvPr/>
        </p:nvSpPr>
        <p:spPr>
          <a:xfrm>
            <a:off x="3524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38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52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867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981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095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210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324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438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552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667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781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895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010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124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238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353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467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581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695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810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924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038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153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267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381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496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610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724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953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067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7181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7296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410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524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639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753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867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981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8096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8210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8324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439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8553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667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782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896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9010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9124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9239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9353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9467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582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696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810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925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0039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0153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333500" y="1962150"/>
            <a:ext cx="11049000" cy="552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6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lang="ja-JP">
                <a:solidFill>
                  <a:srgbClr val="DE5C84"/>
                </a:solidFill>
                <a:latin typeface="Zen Maru Gothic"/>
                <a:ea typeface="Zen Maru Gothic"/>
              </a:rPr>
              <a:t>ゴールがあるからその途中が「物語」になる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333500" y="2952750"/>
            <a:ext cx="4095750" cy="3143250"/>
          </a:xfrm>
          <a:prstGeom prst="rect">
            <a:avLst/>
          </a:prstGeom>
          <a:solidFill>
            <a:srgbClr val="FFFCF5"/>
          </a:solidFill>
          <a:ln w="12700">
            <a:solidFill>
              <a:srgbClr val="EFA5C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5905500" y="2952750"/>
            <a:ext cx="6477000" cy="3143250"/>
          </a:xfrm>
          <a:prstGeom prst="rect">
            <a:avLst/>
          </a:prstGeom>
          <a:solidFill>
            <a:srgbClr val="FFFCF5"/>
          </a:solidFill>
          <a:ln w="12700">
            <a:solidFill>
              <a:srgbClr val="EFA5C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524000" y="3105150"/>
            <a:ext cx="3714750" cy="4381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79"/>
              </a:lnSpc>
              <a:spcBef>
                <a:spcPts val="0"/>
              </a:spcBef>
              <a:spcAft>
                <a:spcPts val="0"/>
              </a:spcAft>
            </a:pPr>
            <a:r>
              <a:rPr sz="2400" b="1" lang="ja-JP">
                <a:solidFill>
                  <a:srgbClr val="4B4B4B"/>
                </a:solidFill>
                <a:latin typeface="Zen Maru Gothic"/>
                <a:ea typeface="Zen Maru Gothic"/>
              </a:rPr>
              <a:t>×例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096000" y="3105150"/>
            <a:ext cx="6096000" cy="4381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79"/>
              </a:lnSpc>
              <a:spcBef>
                <a:spcPts val="0"/>
              </a:spcBef>
              <a:spcAft>
                <a:spcPts val="0"/>
              </a:spcAft>
            </a:pPr>
            <a:r>
              <a:rPr sz="2400" b="1" lang="ja-JP">
                <a:solidFill>
                  <a:srgbClr val="DE5C84"/>
                </a:solidFill>
                <a:latin typeface="Zen Maru Gothic"/>
                <a:ea typeface="Zen Maru Gothic"/>
              </a:rPr>
              <a:t>○例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619250" y="3667125"/>
            <a:ext cx="3524250" cy="14288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191250" y="3667125"/>
            <a:ext cx="5905500" cy="14288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524000" y="3971925"/>
            <a:ext cx="3714750" cy="857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「結婚記念日までに痩せたい」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524000" y="5067300"/>
            <a:ext cx="3714750" cy="647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目標だけだと</a:t>
            </a:r>
          </a:p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他人事になりやすい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191250" y="3810000"/>
            <a:ext cx="5905500" cy="3524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DE5C84"/>
                </a:solidFill>
                <a:latin typeface="Zen Maru Gothic"/>
                <a:ea typeface="Zen Maru Gothic"/>
              </a:rPr>
              <a:t>スタート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096000" y="4200525"/>
            <a:ext cx="6096000" cy="3619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「太って夫からの愛情表現が減った」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191250" y="4572000"/>
            <a:ext cx="59055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DE5C84"/>
                </a:solidFill>
                <a:latin typeface="Zen Maru Gothic"/>
                <a:ea typeface="Zen Maru Gothic"/>
              </a:rPr>
              <a:t>↓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191250" y="4857750"/>
            <a:ext cx="5905500" cy="3333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DE5C84"/>
                </a:solidFill>
                <a:latin typeface="Zen Maru Gothic"/>
                <a:ea typeface="Zen Maru Gothic"/>
              </a:rPr>
              <a:t>ゴール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096000" y="5248275"/>
            <a:ext cx="609600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「結婚記念日までに痩せて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096000" y="5572125"/>
            <a:ext cx="609600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夫にもう一度惚れられたい」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333500" y="6353175"/>
            <a:ext cx="409575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lang="ja-JP">
                <a:solidFill>
                  <a:srgbClr val="4B4B4B"/>
                </a:solidFill>
                <a:latin typeface="Zen Maru Gothic"/>
                <a:ea typeface="Zen Maru Gothic"/>
              </a:rPr>
              <a:t>×＝目標だけ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905500" y="6353175"/>
            <a:ext cx="647700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lang="ja-JP">
                <a:solidFill>
                  <a:srgbClr val="DE5C84"/>
                </a:solidFill>
                <a:latin typeface="Zen Maru Gothic"/>
                <a:ea typeface="Zen Maru Gothic"/>
              </a:rPr>
              <a:t>○＝背景＋目指す未来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17" name="NG background 1"/>
          <p:cNvSpPr/>
          <p:nvPr/>
        </p:nvSpPr>
        <p:spPr>
          <a:xfrm>
            <a:off x="1333500" y="3333750"/>
            <a:ext cx="4191000" cy="7810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8" name="NG background 2"/>
          <p:cNvSpPr/>
          <p:nvPr/>
        </p:nvSpPr>
        <p:spPr>
          <a:xfrm>
            <a:off x="1333500" y="4238625"/>
            <a:ext cx="4191000" cy="7810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9" name="NG background 3"/>
          <p:cNvSpPr/>
          <p:nvPr/>
        </p:nvSpPr>
        <p:spPr>
          <a:xfrm>
            <a:off x="1333500" y="5143500"/>
            <a:ext cx="4191000" cy="10287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0" name="NG background 4"/>
          <p:cNvSpPr/>
          <p:nvPr/>
        </p:nvSpPr>
        <p:spPr>
          <a:xfrm>
            <a:off x="1333500" y="6305550"/>
            <a:ext cx="4191000" cy="7810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共感で「自分事化」してもらう</a:t>
            </a:r>
          </a:p>
        </p:txBody>
      </p:sp>
      <p:sp>
        <p:nvSpPr>
          <p:cNvPr id="24" name="Oval 23"/>
          <p:cNvSpPr/>
          <p:nvPr/>
        </p:nvSpPr>
        <p:spPr>
          <a:xfrm>
            <a:off x="3524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638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752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867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981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095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210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324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438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552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667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781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895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010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124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238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353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467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581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695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810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924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038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153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267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381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496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610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724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953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067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181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296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410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524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639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753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7867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7981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096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210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324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439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553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8667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8782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8896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010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124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239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9353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9467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9582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9696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9810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9925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039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153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333500" y="1828800"/>
            <a:ext cx="11049000" cy="381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DE5C84"/>
                </a:solidFill>
                <a:latin typeface="Zen Maru Gothic"/>
                <a:ea typeface="Zen Maru Gothic"/>
              </a:rPr>
              <a:t>あゆみんの実例で考える物語の入り方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943225" y="2286000"/>
            <a:ext cx="2114550" cy="533400"/>
          </a:xfrm>
          <a:prstGeom prst="rect">
            <a:avLst/>
          </a:prstGeom>
          <a:solidFill>
            <a:srgbClr val="4B4B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943225" y="2286000"/>
            <a:ext cx="2114550" cy="533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60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FFFFFF"/>
                </a:solidFill>
                <a:latin typeface="Zen Maru Gothic"/>
                <a:ea typeface="Zen Maru Gothic"/>
              </a:rPr>
              <a:t>NG例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658225" y="2286000"/>
            <a:ext cx="2114550" cy="533400"/>
          </a:xfrm>
          <a:prstGeom prst="rect">
            <a:avLst/>
          </a:prstGeom>
          <a:solidFill>
            <a:srgbClr val="DE5C8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658225" y="2286000"/>
            <a:ext cx="2114550" cy="533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60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FFFFFF"/>
                </a:solidFill>
                <a:latin typeface="Zen Maru Gothic"/>
                <a:ea typeface="Zen Maru Gothic"/>
              </a:rPr>
              <a:t>OK例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848475" y="2476500"/>
            <a:ext cx="19050" cy="45529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333500" y="2914650"/>
            <a:ext cx="533400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4B4B4B"/>
                </a:solidFill>
                <a:latin typeface="Zen Maru Gothic"/>
                <a:ea typeface="Zen Maru Gothic"/>
              </a:rPr>
              <a:t>浅い情報のままだと伝わりにくい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048500" y="2914650"/>
            <a:ext cx="533400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DE5C84"/>
                </a:solidFill>
                <a:latin typeface="Zen Maru Gothic"/>
                <a:ea typeface="Zen Maru Gothic"/>
              </a:rPr>
              <a:t>「あなたにもこんな悩みない？」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524000" y="3333750"/>
            <a:ext cx="34290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過去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524000" y="3590925"/>
            <a:ext cx="3667125" cy="5238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「可愛い」と言ってもらえていた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048500" y="3333750"/>
            <a:ext cx="5334000" cy="7810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153400" y="3352800"/>
            <a:ext cx="41148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E5C84"/>
                </a:solidFill>
                <a:latin typeface="Zen Maru Gothic"/>
                <a:ea typeface="Zen Maru Gothic"/>
              </a:rPr>
              <a:t>過去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153400" y="3609975"/>
            <a:ext cx="4114800" cy="504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一目惚れされて毎日のように</a:t>
            </a:r>
          </a:p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「可愛い」と言ってもらえていた</a:t>
            </a:r>
          </a:p>
        </p:txBody>
      </p:sp>
      <p:pic>
        <p:nvPicPr>
          <p:cNvPr id="900" name="Picture 23" descr="IMG_2197(2)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9921" y="3352800"/>
            <a:ext cx="424909" cy="742950"/>
          </a:xfrm>
          <a:prstGeom prst="rect">
            <a:avLst/>
          </a:prstGeom>
        </p:spPr>
      </p:pic>
      <p:sp>
        <p:nvSpPr>
          <p:cNvPr id="901" name="TextBox 900"/>
          <p:cNvSpPr txBox="1"/>
          <p:nvPr/>
        </p:nvSpPr>
        <p:spPr>
          <a:xfrm>
            <a:off x="1524000" y="4238625"/>
            <a:ext cx="34290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現在</a:t>
            </a:r>
          </a:p>
        </p:txBody>
      </p:sp>
      <p:sp>
        <p:nvSpPr>
          <p:cNvPr id="902" name="TextBox 901"/>
          <p:cNvSpPr txBox="1"/>
          <p:nvPr/>
        </p:nvSpPr>
        <p:spPr>
          <a:xfrm>
            <a:off x="1524000" y="4495800"/>
            <a:ext cx="3667125" cy="5238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体型が気になる</a:t>
            </a:r>
          </a:p>
        </p:txBody>
      </p:sp>
      <p:sp>
        <p:nvSpPr>
          <p:cNvPr id="903" name="Rectangle 902"/>
          <p:cNvSpPr/>
          <p:nvPr/>
        </p:nvSpPr>
        <p:spPr>
          <a:xfrm>
            <a:off x="7048500" y="4238625"/>
            <a:ext cx="5334000" cy="7810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4" name="TextBox 903"/>
          <p:cNvSpPr txBox="1"/>
          <p:nvPr/>
        </p:nvSpPr>
        <p:spPr>
          <a:xfrm>
            <a:off x="8153400" y="4257675"/>
            <a:ext cx="41148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E5C84"/>
                </a:solidFill>
                <a:latin typeface="Zen Maru Gothic"/>
                <a:ea typeface="Zen Maru Gothic"/>
              </a:rPr>
              <a:t>現在</a:t>
            </a:r>
          </a:p>
        </p:txBody>
      </p:sp>
      <p:sp>
        <p:nvSpPr>
          <p:cNvPr id="905" name="TextBox 904"/>
          <p:cNvSpPr txBox="1"/>
          <p:nvPr/>
        </p:nvSpPr>
        <p:spPr>
          <a:xfrm>
            <a:off x="8153400" y="4514850"/>
            <a:ext cx="4114800" cy="504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産後で体型が変わって</a:t>
            </a:r>
          </a:p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旦那の愛情表現が減った</a:t>
            </a:r>
          </a:p>
        </p:txBody>
      </p:sp>
      <p:pic>
        <p:nvPicPr>
          <p:cNvPr id="901" name="Picture 24" descr="IMG_2199(2)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59372" y="4257675"/>
            <a:ext cx="426007" cy="742950"/>
          </a:xfrm>
          <a:prstGeom prst="rect">
            <a:avLst/>
          </a:prstGeom>
        </p:spPr>
      </p:pic>
      <p:sp>
        <p:nvSpPr>
          <p:cNvPr id="906" name="TextBox 905"/>
          <p:cNvSpPr txBox="1"/>
          <p:nvPr/>
        </p:nvSpPr>
        <p:spPr>
          <a:xfrm>
            <a:off x="1524000" y="5143500"/>
            <a:ext cx="34290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出来事</a:t>
            </a:r>
          </a:p>
        </p:txBody>
      </p:sp>
      <p:sp>
        <p:nvSpPr>
          <p:cNvPr id="907" name="TextBox 906"/>
          <p:cNvSpPr txBox="1"/>
          <p:nvPr/>
        </p:nvSpPr>
        <p:spPr>
          <a:xfrm>
            <a:off x="1524000" y="5400675"/>
            <a:ext cx="3667125" cy="7715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旦那からセイウチに似てると</a:t>
            </a:r>
          </a:p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言われた</a:t>
            </a:r>
          </a:p>
        </p:txBody>
      </p:sp>
      <p:sp>
        <p:nvSpPr>
          <p:cNvPr id="908" name="Rectangle 907"/>
          <p:cNvSpPr/>
          <p:nvPr/>
        </p:nvSpPr>
        <p:spPr>
          <a:xfrm>
            <a:off x="7048500" y="5143500"/>
            <a:ext cx="5334000" cy="10287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9" name="TextBox 908"/>
          <p:cNvSpPr txBox="1"/>
          <p:nvPr/>
        </p:nvSpPr>
        <p:spPr>
          <a:xfrm>
            <a:off x="8153400" y="5162550"/>
            <a:ext cx="41148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E5C84"/>
                </a:solidFill>
                <a:latin typeface="Zen Maru Gothic"/>
                <a:ea typeface="Zen Maru Gothic"/>
              </a:rPr>
              <a:t>出来事</a:t>
            </a:r>
          </a:p>
        </p:txBody>
      </p:sp>
      <p:sp>
        <p:nvSpPr>
          <p:cNvPr id="910" name="TextBox 909"/>
          <p:cNvSpPr txBox="1"/>
          <p:nvPr/>
        </p:nvSpPr>
        <p:spPr>
          <a:xfrm>
            <a:off x="8153400" y="5419725"/>
            <a:ext cx="4114800" cy="7524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家族でアニメを見ていた時に</a:t>
            </a:r>
          </a:p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画面のセイウチに似てると言われて</a:t>
            </a:r>
          </a:p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ショックだった</a:t>
            </a:r>
          </a:p>
        </p:txBody>
      </p:sp>
      <p:pic>
        <p:nvPicPr>
          <p:cNvPr id="902" name="Picture 25" descr="IMG_2201(2)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58379" y="5286375"/>
            <a:ext cx="427992" cy="742950"/>
          </a:xfrm>
          <a:prstGeom prst="rect">
            <a:avLst/>
          </a:prstGeom>
        </p:spPr>
      </p:pic>
      <p:sp>
        <p:nvSpPr>
          <p:cNvPr id="911" name="TextBox 910"/>
          <p:cNvSpPr txBox="1"/>
          <p:nvPr/>
        </p:nvSpPr>
        <p:spPr>
          <a:xfrm>
            <a:off x="1524000" y="6305550"/>
            <a:ext cx="34290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未来</a:t>
            </a:r>
          </a:p>
        </p:txBody>
      </p:sp>
      <p:sp>
        <p:nvSpPr>
          <p:cNvPr id="912" name="TextBox 911"/>
          <p:cNvSpPr txBox="1"/>
          <p:nvPr/>
        </p:nvSpPr>
        <p:spPr>
          <a:xfrm>
            <a:off x="1524000" y="6562725"/>
            <a:ext cx="3667125" cy="5238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痩せたい</a:t>
            </a:r>
          </a:p>
        </p:txBody>
      </p:sp>
      <p:sp>
        <p:nvSpPr>
          <p:cNvPr id="913" name="Rectangle 912"/>
          <p:cNvSpPr/>
          <p:nvPr/>
        </p:nvSpPr>
        <p:spPr>
          <a:xfrm>
            <a:off x="7048500" y="6305550"/>
            <a:ext cx="5334000" cy="7810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4" name="TextBox 913"/>
          <p:cNvSpPr txBox="1"/>
          <p:nvPr/>
        </p:nvSpPr>
        <p:spPr>
          <a:xfrm>
            <a:off x="8153400" y="6324600"/>
            <a:ext cx="41148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E5C84"/>
                </a:solidFill>
                <a:latin typeface="Zen Maru Gothic"/>
                <a:ea typeface="Zen Maru Gothic"/>
              </a:rPr>
              <a:t>未来</a:t>
            </a:r>
          </a:p>
        </p:txBody>
      </p:sp>
      <p:sp>
        <p:nvSpPr>
          <p:cNvPr id="915" name="TextBox 914"/>
          <p:cNvSpPr txBox="1"/>
          <p:nvPr/>
        </p:nvSpPr>
        <p:spPr>
          <a:xfrm>
            <a:off x="8153400" y="6581775"/>
            <a:ext cx="4114800" cy="504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痩せてもう一度</a:t>
            </a:r>
          </a:p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旦那の愛を取り戻したい</a:t>
            </a:r>
          </a:p>
        </p:txBody>
      </p:sp>
      <p:pic>
        <p:nvPicPr>
          <p:cNvPr id="916" name="Picture 915" descr="1-写真1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57036" y="6324600"/>
            <a:ext cx="430679" cy="7429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「ただの日記」と「プロセス」の違い</a:t>
            </a:r>
          </a:p>
        </p:txBody>
      </p:sp>
      <p:sp>
        <p:nvSpPr>
          <p:cNvPr id="6" name="Rectangle 5"/>
          <p:cNvSpPr/>
          <p:nvPr/>
        </p:nvSpPr>
        <p:spPr>
          <a:xfrm>
            <a:off x="1333500" y="2409825"/>
            <a:ext cx="5334000" cy="34004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885926" y="2133600"/>
            <a:ext cx="2228999" cy="44767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85926" y="2133600"/>
            <a:ext cx="2228999" cy="4476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ただの日記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8500" y="2409825"/>
            <a:ext cx="5334000" cy="34004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724751" y="2133600"/>
            <a:ext cx="1981349" cy="44767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24751" y="2133600"/>
            <a:ext cx="1981349" cy="4476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プロセス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150" y="3114675"/>
            <a:ext cx="4838700" cy="93344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「今日は夜ごはんをゆで卵にした。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1週間頑張る！」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1150" y="5143500"/>
            <a:ext cx="48387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01"/>
              </a:lnSpc>
              <a:spcBef>
                <a:spcPts val="0"/>
              </a:spcBef>
              <a:spcAft>
                <a:spcPts val="0"/>
              </a:spcAft>
            </a:pPr>
            <a:r>
              <a:rPr b="1" sz="17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行動の報告だけでは続きを見る理由が弱い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96150" y="2838450"/>
            <a:ext cx="4838700" cy="20478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夜は疲れてなにもしたくない でも痩せたい</a:t>
            </a:r>
          </a:p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自分だけ別のダイエットごはんを</a:t>
            </a:r>
          </a:p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作るのは正直めんどくさい。</a:t>
            </a:r>
          </a:p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そこで夜ごはんをゆで卵に変えて</a:t>
            </a:r>
          </a:p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どうなるか1週間検証！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96150" y="5143500"/>
            <a:ext cx="48387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悩み・ゴール・挑戦・続きがある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3500" y="6000750"/>
            <a:ext cx="11049000" cy="7715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37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悩み・ゴール・挑戦・続きがあるから「どうなる？」が生まれる</a:t>
            </a:r>
          </a:p>
        </p:txBody>
      </p:sp>
      <p:sp>
        <p:nvSpPr>
          <p:cNvPr id="17" name="Oval 16"/>
          <p:cNvSpPr/>
          <p:nvPr/>
        </p:nvSpPr>
        <p:spPr>
          <a:xfrm>
            <a:off x="28098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2499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0401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1552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2703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3854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5005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6156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73080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592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96103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07615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1912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0638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42150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53662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6517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76685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88197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9970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1122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2273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3424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45755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57266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68778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8029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91801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03313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14825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26336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3784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4936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60871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72383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95406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06918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1842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2994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41453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52964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64476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75988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8749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799011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10523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22034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3354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4505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5656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6808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879592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891104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0261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14127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25639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37151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94866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960174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971686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983197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994709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00622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1773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2924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04075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105226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06377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075290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108680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1本のリールはこの流れで考える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133350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9065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① 冒頭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9065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悩み・興味を引く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1470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45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② 共感・現在地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「私も」の入口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8165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6740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2455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③ 挑戦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2455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挑戦内容を示す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4860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435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9150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④ 過程・結果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150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リアルな変化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1555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0130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5845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⑤ 次の展開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5845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続きを見る理由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19276" y="3133725"/>
            <a:ext cx="1486049" cy="36195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19276" y="3133725"/>
            <a:ext cx="1486049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冒頭</a:t>
            </a:r>
          </a:p>
        </p:txBody>
      </p:sp>
      <p:pic>
        <p:nvPicPr>
          <p:cNvPr id="27" name="Picture 37" descr="IMG_2209(3)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3145" y="3600450"/>
            <a:ext cx="1418459" cy="24574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810125" y="4591050"/>
            <a:ext cx="1000125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14901" y="3133725"/>
            <a:ext cx="1486049" cy="36195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14901" y="3133725"/>
            <a:ext cx="1486049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共感</a:t>
            </a:r>
          </a:p>
        </p:txBody>
      </p:sp>
      <p:pic>
        <p:nvPicPr>
          <p:cNvPr id="31" name="Picture 38" descr="IMG_2530(3)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50864" y="3600450"/>
            <a:ext cx="1414273" cy="245745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905750" y="4591050"/>
            <a:ext cx="1000125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62876" y="3133725"/>
            <a:ext cx="1981349" cy="36195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2876" y="3133725"/>
            <a:ext cx="1981349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次の展開</a:t>
            </a:r>
          </a:p>
        </p:txBody>
      </p:sp>
      <p:pic>
        <p:nvPicPr>
          <p:cNvPr id="35" name="Picture 39" descr="IMG_2534(3)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44045" y="3600450"/>
            <a:ext cx="1419159" cy="245745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333500" y="6200775"/>
            <a:ext cx="11049000" cy="3714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挑戦宣言なので過程・結果は次の投稿へ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33500" y="6629400"/>
            <a:ext cx="11049000" cy="24764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投稿の目的に合わせて必要な要素を使い分ける</a:t>
            </a:r>
          </a:p>
        </p:txBody>
      </p:sp>
      <p:sp>
        <p:nvSpPr>
          <p:cNvPr id="38" name="Oval 37"/>
          <p:cNvSpPr/>
          <p:nvPr/>
        </p:nvSpPr>
        <p:spPr>
          <a:xfrm>
            <a:off x="342684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54057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6543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76805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8817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99552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1092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2230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33673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4504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456421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467794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79168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90542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0191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1328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24663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536037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547410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58784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570158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581531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592905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04279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1565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27026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3840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49773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66114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67252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69526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70664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18016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72938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740763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75213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763510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774884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786258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797631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809005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820379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831753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843126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85450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86587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877247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888621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899995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911368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92274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934116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94548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95686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968237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97961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990984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00235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013732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1025105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「リアルな過程」を投稿ネタに変える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1866899"/>
            <a:ext cx="1104900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697"/>
              </a:lnSpc>
              <a:spcBef>
                <a:spcPts val="0"/>
              </a:spcBef>
              <a:spcAft>
                <a:spcPts val="0"/>
              </a:spcAft>
            </a:pPr>
            <a:r>
              <a:rPr b="1" sz="25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予定通りいかなかった出来事も投稿ネタに変えられる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33476" y="2876550"/>
            <a:ext cx="1486049" cy="3810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33476" y="2876550"/>
            <a:ext cx="1486049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挑戦</a:t>
            </a:r>
          </a:p>
        </p:txBody>
      </p:sp>
      <p:sp>
        <p:nvSpPr>
          <p:cNvPr id="9" name="Rectangle 8"/>
          <p:cNvSpPr/>
          <p:nvPr/>
        </p:nvSpPr>
        <p:spPr>
          <a:xfrm>
            <a:off x="1333500" y="3381375"/>
            <a:ext cx="3486150" cy="22955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25" descr="IMG_2545(1)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5900" y="3527987"/>
            <a:ext cx="1162050" cy="200230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800350" y="3476625"/>
            <a:ext cx="1905000" cy="2105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HIITを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1週間検証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9650" y="4171950"/>
            <a:ext cx="295275" cy="514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95776" y="2876550"/>
            <a:ext cx="2724299" cy="3810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95776" y="2876550"/>
            <a:ext cx="2724299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予定外の出来事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14925" y="3381375"/>
            <a:ext cx="3486150" cy="22955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26" descr="IMG_2538(2)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67325" y="3525007"/>
            <a:ext cx="1162050" cy="200826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1775" y="3476625"/>
            <a:ext cx="1905000" cy="2105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風邪で食事量減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−2.9kgは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HIITだけの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結果ではないと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正直に伝えた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01075" y="4171950"/>
            <a:ext cx="295275" cy="514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48676" y="2876550"/>
            <a:ext cx="1981349" cy="3810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48676" y="2876550"/>
            <a:ext cx="1981349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次の挑戦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96350" y="3381375"/>
            <a:ext cx="3486150" cy="22955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7" descr="IMG_2543(3)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48750" y="3525007"/>
            <a:ext cx="1162050" cy="2008261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363200" y="3476625"/>
            <a:ext cx="1905000" cy="2105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もう1週間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延長して検証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結果を再報告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33500" y="6010275"/>
            <a:ext cx="11049000" cy="4095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報告だけ＝日記 ／ 伝えられること・次にすることを考える＝コンテンツ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33500" y="6486525"/>
            <a:ext cx="110490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完璧に見せすぎないから「この先どうなる？」が生まれる</a:t>
            </a:r>
          </a:p>
        </p:txBody>
      </p:sp>
      <p:sp>
        <p:nvSpPr>
          <p:cNvPr id="26" name="TextBox 5"/>
          <p:cNvSpPr txBox="1"/>
          <p:nvPr/>
        </p:nvSpPr>
        <p:spPr>
          <a:xfrm>
            <a:off x="1333500" y="5715000"/>
            <a:ext cx="11049000" cy="285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b="1" sz="15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※HIIT＝短時間で強度の高い運動と休憩を繰り返すトレーニング</a:t>
            </a:r>
          </a:p>
        </p:txBody>
      </p:sp>
      <p:sp>
        <p:nvSpPr>
          <p:cNvPr id="27" name="Oval 26"/>
          <p:cNvSpPr/>
          <p:nvPr/>
        </p:nvSpPr>
        <p:spPr>
          <a:xfrm>
            <a:off x="28098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2499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0401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1552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2703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3854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5005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6156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73080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84592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96103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07615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1912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30638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42150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53662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6517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76685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88197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9970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51122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2273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3424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45755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57266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68778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8029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91801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603313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614825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626336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3784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4936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660871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72383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95406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706918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71842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72994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741453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752964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764476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775988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8749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799011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810523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822034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83354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84505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85656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86808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879592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891104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90261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914127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925639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937151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94866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960174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971686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983197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994709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100622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101773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102924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104075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105226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106377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075290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08680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1つのゴールを複数の投稿で見せる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95351" y="1866900"/>
            <a:ext cx="9525149" cy="1219200"/>
          </a:xfrm>
          <a:prstGeom prst="roundRect">
            <a:avLst>
              <a:gd name="adj" fmla="val 50000"/>
            </a:avLst>
          </a:prstGeom>
          <a:solidFill>
            <a:srgbClr val="FFF0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05000" y="1971675"/>
            <a:ext cx="99060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697"/>
              </a:lnSpc>
              <a:spcBef>
                <a:spcPts val="0"/>
              </a:spcBef>
              <a:spcAft>
                <a:spcPts val="0"/>
              </a:spcAft>
            </a:pPr>
            <a:r>
              <a:rPr b="1" sz="25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アカウント全体のゴール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5000" y="2505075"/>
            <a:ext cx="99060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痩せて夫とデートへ行く。また『可愛い』と言ってもらう。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6500" y="3181350"/>
            <a:ext cx="1143000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0750" y="3533775"/>
            <a:ext cx="2857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なわとび検証</a:t>
            </a:r>
          </a:p>
        </p:txBody>
      </p:sp>
      <p:pic>
        <p:nvPicPr>
          <p:cNvPr id="11" name="Picture 10" descr="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957" y="3962399"/>
            <a:ext cx="1259085" cy="2238375"/>
          </a:xfrm>
          <a:prstGeom prst="rect">
            <a:avLst/>
          </a:prstGeom>
          <a:effectLst/>
        </p:spPr>
      </p:pic>
      <p:sp>
        <p:nvSpPr>
          <p:cNvPr id="12" name="TextBox 11"/>
          <p:cNvSpPr txBox="1"/>
          <p:nvPr/>
        </p:nvSpPr>
        <p:spPr>
          <a:xfrm>
            <a:off x="5048250" y="4819650"/>
            <a:ext cx="38100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29250" y="3533775"/>
            <a:ext cx="2857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16時間断食</a:t>
            </a:r>
          </a:p>
        </p:txBody>
      </p:sp>
      <p:pic>
        <p:nvPicPr>
          <p:cNvPr id="14" name="Picture 13" descr="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8457" y="3962399"/>
            <a:ext cx="1259085" cy="2238375"/>
          </a:xfrm>
          <a:prstGeom prst="rect">
            <a:avLst/>
          </a:prstGeom>
          <a:effectLst/>
        </p:spPr>
      </p:pic>
      <p:sp>
        <p:nvSpPr>
          <p:cNvPr id="15" name="TextBox 14"/>
          <p:cNvSpPr txBox="1"/>
          <p:nvPr/>
        </p:nvSpPr>
        <p:spPr>
          <a:xfrm>
            <a:off x="8286750" y="4819650"/>
            <a:ext cx="38100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67750" y="3533775"/>
            <a:ext cx="2857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ワンピ再挑戦</a:t>
            </a:r>
          </a:p>
        </p:txBody>
      </p:sp>
      <p:pic>
        <p:nvPicPr>
          <p:cNvPr id="17" name="Picture 16" descr="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6957" y="3962399"/>
            <a:ext cx="1259085" cy="2238375"/>
          </a:xfrm>
          <a:prstGeom prst="rect">
            <a:avLst/>
          </a:prstGeom>
          <a:effectLst/>
        </p:spPr>
      </p:pic>
      <p:sp>
        <p:nvSpPr>
          <p:cNvPr id="18" name="TextBox 17"/>
          <p:cNvSpPr txBox="1"/>
          <p:nvPr/>
        </p:nvSpPr>
        <p:spPr>
          <a:xfrm>
            <a:off x="1333500" y="6515100"/>
            <a:ext cx="1104900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違うテーマの投稿でも同じゴールにつながっていれば1つの物語になる</a:t>
            </a:r>
          </a:p>
        </p:txBody>
      </p:sp>
      <p:sp>
        <p:nvSpPr>
          <p:cNvPr id="19" name="Oval 18"/>
          <p:cNvSpPr/>
          <p:nvPr/>
        </p:nvSpPr>
        <p:spPr>
          <a:xfrm>
            <a:off x="318871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3027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4168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5309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6449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75906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8731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98720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1012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21534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32941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44348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55755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6716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78569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8997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01383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12790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24197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3560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4701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58418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69825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81232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9263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0404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15453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2686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38267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4967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6108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7248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9530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0670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1811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29522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4092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52336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6374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7515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86557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97964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09371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2077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3218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43592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54999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66406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7781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889220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0062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12034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23441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34848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46255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95766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969069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98047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991883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00329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01469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2610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3751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048918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500" name="Rectangle 16"/>
          <p:cNvSpPr/>
          <p:nvPr/>
        </p:nvSpPr>
        <p:spPr>
          <a:xfrm>
            <a:off x="9001125" y="2952750"/>
            <a:ext cx="3619500" cy="27622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投稿して終わりにしない</a:t>
            </a:r>
          </a:p>
        </p:txBody>
      </p:sp>
      <p:sp>
        <p:nvSpPr>
          <p:cNvPr id="6" name="Rectangle 5"/>
          <p:cNvSpPr/>
          <p:nvPr/>
        </p:nvSpPr>
        <p:spPr>
          <a:xfrm>
            <a:off x="1571625" y="1933575"/>
            <a:ext cx="2057400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0970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67150" y="1943100"/>
            <a:ext cx="3048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4281488" y="1933575"/>
            <a:ext cx="2314575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4815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数字を見る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5600" y="1943100"/>
            <a:ext cx="3048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10400" y="1933575"/>
            <a:ext cx="2533650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8660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原因を考える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44050" y="1943100"/>
            <a:ext cx="3048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58388" y="1933575"/>
            <a:ext cx="2314575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2505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次の投稿で</a:t>
            </a:r>
          </a:p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改善する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33500" y="3038475"/>
            <a:ext cx="728662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04950" y="307657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再生が弱い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00500" y="307657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76750" y="307657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冒頭・テーマは刺さった？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33500" y="3590925"/>
            <a:ext cx="728662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04950" y="362902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離脱が多い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00500" y="362902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76750" y="362902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前置き長くない？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33500" y="4143375"/>
            <a:ext cx="728662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04950" y="418147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フォローが少ない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00500" y="418147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76750" y="418147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続きを見る理由ある？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33500" y="4695825"/>
            <a:ext cx="728662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04950" y="473392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経過報告が弱い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00500" y="473392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76750" y="473392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発見・見どころある？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333500" y="5248275"/>
            <a:ext cx="728662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504950" y="528637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一部だけ伸びる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00500" y="528637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76750" y="528637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何が刺さった？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33500" y="6438900"/>
            <a:ext cx="110490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数字が悪い＝投稿全部がダメではない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3143250"/>
            <a:ext cx="3333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なぜ？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3657600"/>
            <a:ext cx="3333750" cy="3333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4095750"/>
            <a:ext cx="333375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次は何を変える？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96375" y="4781550"/>
            <a:ext cx="3429000" cy="781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01"/>
              </a:lnSpc>
              <a:spcBef>
                <a:spcPts val="0"/>
              </a:spcBef>
              <a:spcAft>
                <a:spcPts val="0"/>
              </a:spcAft>
            </a:pPr>
            <a:r>
              <a:rPr b="1" sz="17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1投稿だけで判断せず</a:t>
            </a:r>
          </a:p>
          <a:p>
            <a:pPr algn="ctr">
              <a:lnSpc>
                <a:spcPts val="2501"/>
              </a:lnSpc>
              <a:spcBef>
                <a:spcPts val="0"/>
              </a:spcBef>
              <a:spcAft>
                <a:spcPts val="0"/>
              </a:spcAft>
            </a:pPr>
            <a:r>
              <a:rPr b="1" sz="17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投稿がたまってから考える</a:t>
            </a:r>
          </a:p>
        </p:txBody>
      </p:sp>
      <p:sp>
        <p:nvSpPr>
          <p:cNvPr id="42" name="Oval 41"/>
          <p:cNvSpPr/>
          <p:nvPr/>
        </p:nvSpPr>
        <p:spPr>
          <a:xfrm>
            <a:off x="42386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35168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46474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5777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69085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8039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491697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0300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14308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2561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3692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4822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5953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57083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582143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93448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04754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1606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62736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3867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49977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61283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7258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69520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706506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717812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72911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74042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5172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763035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774341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785646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79695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80825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81956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83086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84217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853481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86478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876092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88739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898704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91001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921316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932621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94392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まとめ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95500" y="1866899"/>
            <a:ext cx="885825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95499" y="1866899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81250" y="19431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物語のゴールと共感の入口を決める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95500" y="2667000"/>
            <a:ext cx="885825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095499" y="2667000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81250" y="27432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日記ではなく「この先どうなる？」と思える挑戦にする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95500" y="3467100"/>
            <a:ext cx="885825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095499" y="3467100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81250" y="35433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日常の失敗や変化を「そこから何を伝えられる？」に変換する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095500" y="4267200"/>
            <a:ext cx="885825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095499" y="4267200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381250" y="43434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1つのゴールに向かって複数投稿をつなげる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095500" y="5067300"/>
            <a:ext cx="885825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095499" y="5067300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381250" y="51435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投稿後は数字を見る → 仮説を立てる → 次で改善する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33500" y="6162675"/>
            <a:ext cx="11049000" cy="4381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25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「私の挑戦を見て」ではなく「あなたにもこんな悩みない？」から始める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33500" y="6619875"/>
            <a:ext cx="11049000" cy="266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 → 自分事化 → 続きが気になる → 応援 → ファン化</a:t>
            </a:r>
          </a:p>
        </p:txBody>
      </p:sp>
      <p:sp>
        <p:nvSpPr>
          <p:cNvPr id="36" name="Oval 35"/>
          <p:cNvSpPr/>
          <p:nvPr/>
        </p:nvSpPr>
        <p:spPr>
          <a:xfrm>
            <a:off x="61436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25951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3754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49128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6071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7230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9548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0707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18661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3025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4183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5342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プロセスエコノミーの台本について</dc:title>
  <dc:subject>YOLO生向け講義教材</dc:subject>
  <dc:creator>あゆみん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