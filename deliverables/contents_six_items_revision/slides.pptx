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21526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24384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プロセスエコノミーの台本について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1375" y="4657725"/>
            <a:ext cx="69532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562302" y="1457325"/>
            <a:ext cx="2591395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s 1 0"/>
          <p:cNvSpPr/>
          <p:nvPr/>
        </p:nvSpPr>
        <p:spPr>
          <a:xfrm>
            <a:off x="3190875" y="207645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ntents 1 1"/>
          <p:cNvSpPr/>
          <p:nvPr/>
        </p:nvSpPr>
        <p:spPr>
          <a:xfrm>
            <a:off x="3190875" y="20764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ntents 1 2"/>
          <p:cNvSpPr txBox="1"/>
          <p:nvPr/>
        </p:nvSpPr>
        <p:spPr>
          <a:xfrm>
            <a:off x="3514725" y="21526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プロセスエコノミーの考え方</a:t>
            </a:r>
          </a:p>
        </p:txBody>
      </p:sp>
      <p:sp>
        <p:nvSpPr>
          <p:cNvPr id="23" name="Contents 2 0"/>
          <p:cNvSpPr/>
          <p:nvPr/>
        </p:nvSpPr>
        <p:spPr>
          <a:xfrm>
            <a:off x="3190875" y="281940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ntents 2 1"/>
          <p:cNvSpPr/>
          <p:nvPr/>
        </p:nvSpPr>
        <p:spPr>
          <a:xfrm>
            <a:off x="3190875" y="28194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ntents 2 2"/>
          <p:cNvSpPr txBox="1"/>
          <p:nvPr/>
        </p:nvSpPr>
        <p:spPr>
          <a:xfrm>
            <a:off x="3514725" y="28956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ゴールと共感の入口</a:t>
            </a:r>
          </a:p>
        </p:txBody>
      </p:sp>
      <p:sp>
        <p:nvSpPr>
          <p:cNvPr id="26" name="Contents 3 0"/>
          <p:cNvSpPr/>
          <p:nvPr/>
        </p:nvSpPr>
        <p:spPr>
          <a:xfrm>
            <a:off x="3190875" y="356235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ontents 3 1"/>
          <p:cNvSpPr/>
          <p:nvPr/>
        </p:nvSpPr>
        <p:spPr>
          <a:xfrm>
            <a:off x="3190875" y="35623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ntents 3 2"/>
          <p:cNvSpPr txBox="1"/>
          <p:nvPr/>
        </p:nvSpPr>
        <p:spPr>
          <a:xfrm>
            <a:off x="3514725" y="36385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台本の組み立て方</a:t>
            </a:r>
          </a:p>
        </p:txBody>
      </p:sp>
      <p:sp>
        <p:nvSpPr>
          <p:cNvPr id="29" name="Contents 4 0"/>
          <p:cNvSpPr/>
          <p:nvPr/>
        </p:nvSpPr>
        <p:spPr>
          <a:xfrm>
            <a:off x="3190875" y="430530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ntents 4 1"/>
          <p:cNvSpPr/>
          <p:nvPr/>
        </p:nvSpPr>
        <p:spPr>
          <a:xfrm>
            <a:off x="3190875" y="4305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ntents 4 2"/>
          <p:cNvSpPr txBox="1"/>
          <p:nvPr/>
        </p:nvSpPr>
        <p:spPr>
          <a:xfrm>
            <a:off x="3514725" y="4381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32" name="Contents 5 0"/>
          <p:cNvSpPr/>
          <p:nvPr/>
        </p:nvSpPr>
        <p:spPr>
          <a:xfrm>
            <a:off x="3190875" y="504825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ntents 5 1"/>
          <p:cNvSpPr/>
          <p:nvPr/>
        </p:nvSpPr>
        <p:spPr>
          <a:xfrm>
            <a:off x="3190875" y="50482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ntents 5 2"/>
          <p:cNvSpPr txBox="1"/>
          <p:nvPr/>
        </p:nvSpPr>
        <p:spPr>
          <a:xfrm>
            <a:off x="3514725" y="51244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複数投稿で物語をつなぐ</a:t>
            </a:r>
          </a:p>
        </p:txBody>
      </p:sp>
      <p:sp>
        <p:nvSpPr>
          <p:cNvPr id="35" name="Contents 6 0"/>
          <p:cNvSpPr/>
          <p:nvPr/>
        </p:nvSpPr>
        <p:spPr>
          <a:xfrm>
            <a:off x="3190875" y="579120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ntents 6 1"/>
          <p:cNvSpPr/>
          <p:nvPr/>
        </p:nvSpPr>
        <p:spPr>
          <a:xfrm>
            <a:off x="3190875" y="57912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ntents 6 2"/>
          <p:cNvSpPr txBox="1"/>
          <p:nvPr/>
        </p:nvSpPr>
        <p:spPr>
          <a:xfrm>
            <a:off x="3514725" y="58674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投稿後の分析と改善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43350" y="1571625"/>
            <a:ext cx="58293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b="1" sz="27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ゴールがあるから、その途中が「物語」になる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8375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4575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スタート地点を明確にする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838450"/>
            <a:ext cx="3048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0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ゴール地点を明確にする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08622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ゴールや過程そのものに興味を持ってもらえるテーマにする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3500" y="4695825"/>
            <a:ext cx="11049000" cy="13811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2100" y="4772025"/>
            <a:ext cx="105918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「100日後に水着を着たい」だけでは、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初見の視聴者には他人事になりやすい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5629275"/>
            <a:ext cx="105918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「私もそう」「分かる」「私のことみたい」と思える背景や悩みを入れる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324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共感できる背景があると、物語に入ってもらいやすい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過去</a:t>
            </a:r>
          </a:p>
        </p:txBody>
      </p:sp>
      <p:pic>
        <p:nvPicPr>
          <p:cNvPr id="8" name="Picture 7" descr="IMG_2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9" name="Rounded Rectangle 8"/>
          <p:cNvSpPr/>
          <p:nvPr/>
        </p:nvSpPr>
        <p:spPr>
          <a:xfrm>
            <a:off x="30480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80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現在</a:t>
            </a:r>
          </a:p>
        </p:txBody>
      </p:sp>
      <p:pic>
        <p:nvPicPr>
          <p:cNvPr id="11" name="Picture 10" descr="IMG_2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7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4762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出来事</a:t>
            </a:r>
          </a:p>
        </p:txBody>
      </p:sp>
      <p:pic>
        <p:nvPicPr>
          <p:cNvPr id="14" name="Picture 13" descr="IMG_22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762125" y="5848350"/>
            <a:ext cx="41909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62125" y="5848350"/>
            <a:ext cx="41909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あゆみんの実例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2750" y="228600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1350" y="236220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過去：夫が「可愛い」と言ってくれるほど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仲がよかった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2750" y="348615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1350" y="356235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現在：家庭を一緒に回す戦友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のような関係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2750" y="4686300"/>
            <a:ext cx="5619750" cy="1409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1350" y="4762500"/>
            <a:ext cx="5162550" cy="1257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出来事：家族でアニメを見ていた時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画面のセイウチに似ていると揶揄され、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ショック・悔しさ・寂しさを感じた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637222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「私の目標を見て」ではなく「あなたにもこんな悩みない？」から物語に入ってもらう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14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4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29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9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4686300"/>
            <a:ext cx="48387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行動の報告だけでは、続きを見る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714625"/>
            <a:ext cx="4838700" cy="2305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「夜は疲れて何もしたくない。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でも痩せたい。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1本のリールは、この流れで考える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31566" y="1571625"/>
            <a:ext cx="7452867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14625" y="3133725"/>
            <a:ext cx="209549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14625" y="3133725"/>
            <a:ext cx="20954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26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409" y="3600450"/>
            <a:ext cx="1135930" cy="2457450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10250" y="3133725"/>
            <a:ext cx="209549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10250" y="3133725"/>
            <a:ext cx="20954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0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034" y="3600450"/>
            <a:ext cx="1135930" cy="2457450"/>
          </a:xfrm>
          <a:prstGeom prst="rect">
            <a:avLst/>
          </a:prstGeom>
          <a:effectLst/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05875" y="3133725"/>
            <a:ext cx="209549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05875" y="3133725"/>
            <a:ext cx="209549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4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659" y="3600450"/>
            <a:ext cx="1135930" cy="2457450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挑戦宣言なので、過程・結果は次の投稿へ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投稿の目的に合わせて、必要な要素を使い分ける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予定通りいかなかった出来事も、投稿ネタに変えられる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3500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12" y="3476625"/>
            <a:ext cx="973025" cy="2105025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4925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4925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837" y="3476625"/>
            <a:ext cx="973025" cy="2105025"/>
          </a:xfrm>
          <a:prstGeom prst="rect">
            <a:avLst/>
          </a:prstGeom>
          <a:effectLst/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96350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6350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262" y="3476625"/>
            <a:ext cx="973025" cy="2105025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完璧に見せすぎないから、「この先どうなる？」が生まれる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1つのゴールを、複数の投稿で見せる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93441" y="1571625"/>
            <a:ext cx="7929117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190999" y="1943100"/>
            <a:ext cx="5334000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90999" y="1943100"/>
            <a:ext cx="5334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2390775"/>
            <a:ext cx="110490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</a:t>
            </a:r>
          </a:p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16時間断食結果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違うテーマの投稿でも、同じゴールにつながっていれば1つの物語になる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81475" y="1571625"/>
            <a:ext cx="53530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195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4885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5000" y="2771775"/>
            <a:ext cx="9906000" cy="4095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95499" y="2800350"/>
            <a:ext cx="33337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5450" y="2800350"/>
            <a:ext cx="6096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500" y="2800350"/>
            <a:ext cx="53340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05000" y="3286125"/>
            <a:ext cx="9906000" cy="4095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499" y="3314700"/>
            <a:ext cx="33337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5450" y="3314700"/>
            <a:ext cx="6096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0" y="3314700"/>
            <a:ext cx="53340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05000" y="3800475"/>
            <a:ext cx="9906000" cy="4095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95499" y="3829050"/>
            <a:ext cx="33337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5450" y="3829050"/>
            <a:ext cx="6096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6500" y="3829050"/>
            <a:ext cx="53340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05000" y="4314825"/>
            <a:ext cx="9906000" cy="4095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95499" y="4343400"/>
            <a:ext cx="33337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05450" y="4343400"/>
            <a:ext cx="6096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6500" y="4343400"/>
            <a:ext cx="53340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05000" y="4829175"/>
            <a:ext cx="9906000" cy="4095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95499" y="4857750"/>
            <a:ext cx="33337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05450" y="4857750"/>
            <a:ext cx="6096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6500" y="4857750"/>
            <a:ext cx="53340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5391150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33500" y="5838825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「なぜ？」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6500" y="6105525"/>
            <a:ext cx="1143000" cy="171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33500" y="6305550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「次は何を変える？」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33500" y="6638925"/>
            <a:ext cx="110490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1投稿だけで判断せず、投稿数がたまってから傾向を見る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5" name="Oval 4"/>
          <p:cNvSpPr/>
          <p:nvPr/>
        </p:nvSpPr>
        <p:spPr>
          <a:xfrm>
            <a:off x="60960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103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246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389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532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67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818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961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10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247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390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53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675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81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95499" y="1866899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499" y="266700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日記ではなく、「この先どうなる？」と思える挑戦にする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499" y="346710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499" y="426720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499" y="5067300"/>
            <a:ext cx="9525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投稿後は、数字を見る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