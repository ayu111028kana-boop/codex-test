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6307"/>
              </a:lnSpc>
              <a:spcBef>
                <a:spcPts val="0"/>
              </a:spcBef>
              <a:spcAft>
                <a:spcPts val="0"/>
              </a:spcAft>
            </a:pPr>
            <a:r>
              <a:rPr b="1" sz="4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応援される発信の作り方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81945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5"/>
          <p:cNvSpPr/>
          <p:nvPr/>
        </p:nvSpPr>
        <p:spPr>
          <a:xfrm>
            <a:off x="393339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5"/>
          <p:cNvSpPr/>
          <p:nvPr/>
        </p:nvSpPr>
        <p:spPr>
          <a:xfrm>
            <a:off x="404733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5"/>
          <p:cNvSpPr/>
          <p:nvPr/>
        </p:nvSpPr>
        <p:spPr>
          <a:xfrm>
            <a:off x="416128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5"/>
          <p:cNvSpPr/>
          <p:nvPr/>
        </p:nvSpPr>
        <p:spPr>
          <a:xfrm>
            <a:off x="427522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15"/>
          <p:cNvSpPr/>
          <p:nvPr/>
        </p:nvSpPr>
        <p:spPr>
          <a:xfrm>
            <a:off x="438916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5"/>
          <p:cNvSpPr/>
          <p:nvPr/>
        </p:nvSpPr>
        <p:spPr>
          <a:xfrm>
            <a:off x="450311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5"/>
          <p:cNvSpPr/>
          <p:nvPr/>
        </p:nvSpPr>
        <p:spPr>
          <a:xfrm>
            <a:off x="461705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15"/>
          <p:cNvSpPr/>
          <p:nvPr/>
        </p:nvSpPr>
        <p:spPr>
          <a:xfrm>
            <a:off x="473099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15"/>
          <p:cNvSpPr/>
          <p:nvPr/>
        </p:nvSpPr>
        <p:spPr>
          <a:xfrm>
            <a:off x="48449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15"/>
          <p:cNvSpPr/>
          <p:nvPr/>
        </p:nvSpPr>
        <p:spPr>
          <a:xfrm>
            <a:off x="495888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15"/>
          <p:cNvSpPr/>
          <p:nvPr/>
        </p:nvSpPr>
        <p:spPr>
          <a:xfrm>
            <a:off x="507282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15"/>
          <p:cNvSpPr/>
          <p:nvPr/>
        </p:nvSpPr>
        <p:spPr>
          <a:xfrm>
            <a:off x="518677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15"/>
          <p:cNvSpPr/>
          <p:nvPr/>
        </p:nvSpPr>
        <p:spPr>
          <a:xfrm>
            <a:off x="53007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15"/>
          <p:cNvSpPr/>
          <p:nvPr/>
        </p:nvSpPr>
        <p:spPr>
          <a:xfrm>
            <a:off x="541465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15"/>
          <p:cNvSpPr/>
          <p:nvPr/>
        </p:nvSpPr>
        <p:spPr>
          <a:xfrm>
            <a:off x="552860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15"/>
          <p:cNvSpPr/>
          <p:nvPr/>
        </p:nvSpPr>
        <p:spPr>
          <a:xfrm>
            <a:off x="5642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15"/>
          <p:cNvSpPr/>
          <p:nvPr/>
        </p:nvSpPr>
        <p:spPr>
          <a:xfrm>
            <a:off x="575648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15"/>
          <p:cNvSpPr/>
          <p:nvPr/>
        </p:nvSpPr>
        <p:spPr>
          <a:xfrm>
            <a:off x="587043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15"/>
          <p:cNvSpPr/>
          <p:nvPr/>
        </p:nvSpPr>
        <p:spPr>
          <a:xfrm>
            <a:off x="598437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15"/>
          <p:cNvSpPr/>
          <p:nvPr/>
        </p:nvSpPr>
        <p:spPr>
          <a:xfrm>
            <a:off x="6098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15"/>
          <p:cNvSpPr/>
          <p:nvPr/>
        </p:nvSpPr>
        <p:spPr>
          <a:xfrm>
            <a:off x="621226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15"/>
          <p:cNvSpPr/>
          <p:nvPr/>
        </p:nvSpPr>
        <p:spPr>
          <a:xfrm>
            <a:off x="63262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15"/>
          <p:cNvSpPr/>
          <p:nvPr/>
        </p:nvSpPr>
        <p:spPr>
          <a:xfrm>
            <a:off x="644014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15"/>
          <p:cNvSpPr/>
          <p:nvPr/>
        </p:nvSpPr>
        <p:spPr>
          <a:xfrm>
            <a:off x="655409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15"/>
          <p:cNvSpPr/>
          <p:nvPr/>
        </p:nvSpPr>
        <p:spPr>
          <a:xfrm>
            <a:off x="666803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15"/>
          <p:cNvSpPr/>
          <p:nvPr/>
        </p:nvSpPr>
        <p:spPr>
          <a:xfrm>
            <a:off x="678197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15"/>
          <p:cNvSpPr/>
          <p:nvPr/>
        </p:nvSpPr>
        <p:spPr>
          <a:xfrm>
            <a:off x="689592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15"/>
          <p:cNvSpPr/>
          <p:nvPr/>
        </p:nvSpPr>
        <p:spPr>
          <a:xfrm>
            <a:off x="700986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15"/>
          <p:cNvSpPr/>
          <p:nvPr/>
        </p:nvSpPr>
        <p:spPr>
          <a:xfrm>
            <a:off x="712380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15"/>
          <p:cNvSpPr/>
          <p:nvPr/>
        </p:nvSpPr>
        <p:spPr>
          <a:xfrm>
            <a:off x="723775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15"/>
          <p:cNvSpPr/>
          <p:nvPr/>
        </p:nvSpPr>
        <p:spPr>
          <a:xfrm>
            <a:off x="73516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15"/>
          <p:cNvSpPr/>
          <p:nvPr/>
        </p:nvSpPr>
        <p:spPr>
          <a:xfrm>
            <a:off x="746563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15"/>
          <p:cNvSpPr/>
          <p:nvPr/>
        </p:nvSpPr>
        <p:spPr>
          <a:xfrm>
            <a:off x="7579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5"/>
          <p:cNvSpPr/>
          <p:nvPr/>
        </p:nvSpPr>
        <p:spPr>
          <a:xfrm>
            <a:off x="769352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15"/>
          <p:cNvSpPr/>
          <p:nvPr/>
        </p:nvSpPr>
        <p:spPr>
          <a:xfrm>
            <a:off x="780746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15"/>
          <p:cNvSpPr/>
          <p:nvPr/>
        </p:nvSpPr>
        <p:spPr>
          <a:xfrm>
            <a:off x="792141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15"/>
          <p:cNvSpPr/>
          <p:nvPr/>
        </p:nvSpPr>
        <p:spPr>
          <a:xfrm>
            <a:off x="8035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5"/>
          <p:cNvSpPr/>
          <p:nvPr/>
        </p:nvSpPr>
        <p:spPr>
          <a:xfrm>
            <a:off x="814929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15"/>
          <p:cNvSpPr/>
          <p:nvPr/>
        </p:nvSpPr>
        <p:spPr>
          <a:xfrm>
            <a:off x="826324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5"/>
          <p:cNvSpPr/>
          <p:nvPr/>
        </p:nvSpPr>
        <p:spPr>
          <a:xfrm>
            <a:off x="83771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15"/>
          <p:cNvSpPr/>
          <p:nvPr/>
        </p:nvSpPr>
        <p:spPr>
          <a:xfrm>
            <a:off x="849112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5"/>
          <p:cNvSpPr/>
          <p:nvPr/>
        </p:nvSpPr>
        <p:spPr>
          <a:xfrm>
            <a:off x="860507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5"/>
          <p:cNvSpPr/>
          <p:nvPr/>
        </p:nvSpPr>
        <p:spPr>
          <a:xfrm>
            <a:off x="871901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15"/>
          <p:cNvSpPr/>
          <p:nvPr/>
        </p:nvSpPr>
        <p:spPr>
          <a:xfrm>
            <a:off x="88329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15"/>
          <p:cNvSpPr/>
          <p:nvPr/>
        </p:nvSpPr>
        <p:spPr>
          <a:xfrm>
            <a:off x="894690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15"/>
          <p:cNvSpPr/>
          <p:nvPr/>
        </p:nvSpPr>
        <p:spPr>
          <a:xfrm>
            <a:off x="906084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5"/>
          <p:cNvSpPr/>
          <p:nvPr/>
        </p:nvSpPr>
        <p:spPr>
          <a:xfrm>
            <a:off x="917478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15"/>
          <p:cNvSpPr/>
          <p:nvPr/>
        </p:nvSpPr>
        <p:spPr>
          <a:xfrm>
            <a:off x="928873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15"/>
          <p:cNvSpPr/>
          <p:nvPr/>
        </p:nvSpPr>
        <p:spPr>
          <a:xfrm>
            <a:off x="940267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15"/>
          <p:cNvSpPr/>
          <p:nvPr/>
        </p:nvSpPr>
        <p:spPr>
          <a:xfrm>
            <a:off x="951661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15"/>
          <p:cNvSpPr/>
          <p:nvPr/>
        </p:nvSpPr>
        <p:spPr>
          <a:xfrm>
            <a:off x="963056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15"/>
          <p:cNvSpPr/>
          <p:nvPr/>
        </p:nvSpPr>
        <p:spPr>
          <a:xfrm>
            <a:off x="974450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15"/>
          <p:cNvSpPr/>
          <p:nvPr/>
        </p:nvSpPr>
        <p:spPr>
          <a:xfrm>
            <a:off x="985844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3145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310515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共感されるゴールの決め方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89572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応援したくなるストーリーの組み立て方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68630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4768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複数投稿で「続きが気になる」をつくる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6261" y="5105400"/>
            <a:ext cx="1600349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915"/>
              </a:lnSpc>
              <a:spcBef>
                <a:spcPts val="0"/>
              </a:spcBef>
              <a:spcAft>
                <a:spcPts val="0"/>
              </a:spcAft>
            </a:pPr>
            <a:r>
              <a:rPr b="1" sz="27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ゴールがあるからその途中が「物語」になる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62039" y="2828925"/>
            <a:ext cx="4419749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4575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スタート地点を明確にする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2838450"/>
            <a:ext cx="30480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2176" y="2828925"/>
            <a:ext cx="4143524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ゴール地点を明確にする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08622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ゴールや過程そのものに興味を持ってもらえるテーマにする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0262" y="4695825"/>
            <a:ext cx="9515475" cy="13811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2100" y="4772025"/>
            <a:ext cx="105918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「100日後に水着を着たい」だけでは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初見の視聴者には他人事になりやすい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2100" y="5629275"/>
            <a:ext cx="105918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「私もそう」「分かる」「私のことみたい」と思える背景や悩みを入れる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324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共感できる背景があると物語に入ってもらいやすい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33500" y="1828800"/>
            <a:ext cx="11049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E5C84"/>
                </a:solidFill>
                <a:latin typeface="Zen Maru Gothic"/>
                <a:ea typeface="Zen Maru Gothic"/>
              </a:rPr>
              <a:t>あゆみんの実例で考える物語の入り方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71700" y="2286000"/>
            <a:ext cx="2114550" cy="533400"/>
          </a:xfrm>
          <a:prstGeom prst="rect">
            <a:avLst/>
          </a:prstGeom>
          <a:solidFill>
            <a:srgbClr val="4B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71700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191500" y="2286000"/>
            <a:ext cx="2114550" cy="533400"/>
          </a:xfrm>
          <a:prstGeom prst="rect">
            <a:avLst/>
          </a:prstGeom>
          <a:solidFill>
            <a:srgbClr val="DE5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191500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29250" y="2476500"/>
            <a:ext cx="19050" cy="45529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43000" y="2914650"/>
            <a:ext cx="4048125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B4B4B"/>
                </a:solidFill>
                <a:latin typeface="Zen Maru Gothic"/>
                <a:ea typeface="Zen Maru Gothic"/>
              </a:rPr>
              <a:t>浅い情報のままだと伝わりにくい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05500" y="2914650"/>
            <a:ext cx="6477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DE5C84"/>
                </a:solidFill>
                <a:latin typeface="Zen Maru Gothic"/>
                <a:ea typeface="Zen Maru Gothic"/>
              </a:rPr>
              <a:t>「あなたにもこんな悩みない？」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24000" y="33337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24000" y="35909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905500" y="3333750"/>
            <a:ext cx="6477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105650" y="3352800"/>
            <a:ext cx="504825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105650" y="3609975"/>
            <a:ext cx="504825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一目惚れされて毎日のように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pic>
        <p:nvPicPr>
          <p:cNvPr id="900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9825" y="3307915"/>
            <a:ext cx="476250" cy="83272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1524000" y="4238625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1524000" y="4495800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体型が気になる</a:t>
            </a:r>
          </a:p>
        </p:txBody>
      </p:sp>
      <p:sp>
        <p:nvSpPr>
          <p:cNvPr id="903" name="Rectangle 902"/>
          <p:cNvSpPr/>
          <p:nvPr/>
        </p:nvSpPr>
        <p:spPr>
          <a:xfrm>
            <a:off x="5905500" y="4238625"/>
            <a:ext cx="6477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TextBox 903"/>
          <p:cNvSpPr txBox="1"/>
          <p:nvPr/>
        </p:nvSpPr>
        <p:spPr>
          <a:xfrm>
            <a:off x="7105650" y="4257675"/>
            <a:ext cx="504825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7105650" y="4514850"/>
            <a:ext cx="504825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産後で体型が変わって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旦那の愛情表現が減った</a:t>
            </a:r>
          </a:p>
        </p:txBody>
      </p:sp>
      <p:pic>
        <p:nvPicPr>
          <p:cNvPr id="90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9825" y="4213863"/>
            <a:ext cx="476250" cy="830573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1524000" y="514350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1524000" y="5400675"/>
            <a:ext cx="3667125" cy="771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家族で映画を見た時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セイウチに似てると言われた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5905500" y="5143500"/>
            <a:ext cx="6477000" cy="1028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TextBox 908"/>
          <p:cNvSpPr txBox="1"/>
          <p:nvPr/>
        </p:nvSpPr>
        <p:spPr>
          <a:xfrm>
            <a:off x="7105650" y="5162550"/>
            <a:ext cx="504825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7105650" y="5419725"/>
            <a:ext cx="5048250" cy="752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家族でアニメ映画を見ていた時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画面のセイウチに似てると言われて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ショックだった</a:t>
            </a:r>
          </a:p>
        </p:txBody>
      </p:sp>
      <p:pic>
        <p:nvPicPr>
          <p:cNvPr id="902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9825" y="5244489"/>
            <a:ext cx="476250" cy="826721"/>
          </a:xfrm>
          <a:prstGeom prst="rect">
            <a:avLst/>
          </a:prstGeom>
        </p:spPr>
      </p:pic>
      <p:sp>
        <p:nvSpPr>
          <p:cNvPr id="911" name="TextBox 910"/>
          <p:cNvSpPr txBox="1"/>
          <p:nvPr/>
        </p:nvSpPr>
        <p:spPr>
          <a:xfrm>
            <a:off x="1524000" y="63055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1524000" y="65627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痩せたい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5905500" y="6305550"/>
            <a:ext cx="6477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7105650" y="6324600"/>
            <a:ext cx="504825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7105650" y="6581775"/>
            <a:ext cx="504825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痩せてもう一度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旦那の愛を取り戻したい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5926" y="2133600"/>
            <a:ext cx="222899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5926" y="2133600"/>
            <a:ext cx="222899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24751" y="2133600"/>
            <a:ext cx="198134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751" y="2133600"/>
            <a:ext cx="198134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838450"/>
            <a:ext cx="4838700" cy="2047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9276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9276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4901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4901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2876" y="3133725"/>
            <a:ext cx="19813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2876" y="3133725"/>
            <a:ext cx="19813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3476" y="2876550"/>
            <a:ext cx="14860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3476" y="2876550"/>
            <a:ext cx="14860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776" y="28765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776" y="28765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8676" y="2876550"/>
            <a:ext cx="19813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676" y="2876550"/>
            <a:ext cx="19813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57150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351" y="1866900"/>
            <a:ext cx="9525149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0" name="Rectangle 16"/>
          <p:cNvSpPr/>
          <p:nvPr/>
        </p:nvSpPr>
        <p:spPr>
          <a:xfrm>
            <a:off x="9001125" y="2952750"/>
            <a:ext cx="3619500" cy="2762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1625" y="1933575"/>
            <a:ext cx="205740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14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583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500" y="1866899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500" y="26670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500" y="34671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500" y="42672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500" y="50673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